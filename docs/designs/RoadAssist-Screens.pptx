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3844290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251960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199698"/>
            <a:ext cx="824103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sign-in for road users and dispatchers. The session stays active on the device, so reporting help is always one tap away.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981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1296650" y="3308509"/>
            <a:ext cx="533400" cy="53340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4" name="Shape 10"/>
          <p:cNvSpPr/>
          <p:nvPr/>
        </p:nvSpPr>
        <p:spPr>
          <a:xfrm>
            <a:off x="11446034" y="3457892"/>
            <a:ext cx="234632" cy="234632"/>
          </a:xfrm>
          <a:prstGeom prst="ellipse">
            <a:avLst/>
          </a:prstGeom>
          <a:ln w="31909">
            <a:solidFill>
              <a:srgbClr val="E0590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523345" y="3535204"/>
            <a:ext cx="80010" cy="80010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16" name="Text 12"/>
          <p:cNvSpPr/>
          <p:nvPr/>
        </p:nvSpPr>
        <p:spPr>
          <a:xfrm>
            <a:off x="10923270" y="3994309"/>
            <a:ext cx="13562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RoadAssist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10271443" y="4361021"/>
            <a:ext cx="2583656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 breakdown. Track help on the way.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10287000" y="4844415"/>
            <a:ext cx="6210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825" dirty="0"/>
          </a:p>
        </p:txBody>
      </p:sp>
      <p:sp>
        <p:nvSpPr>
          <p:cNvPr id="19" name="Shape 15"/>
          <p:cNvSpPr/>
          <p:nvPr/>
        </p:nvSpPr>
        <p:spPr>
          <a:xfrm>
            <a:off x="10287000" y="5028088"/>
            <a:ext cx="2552700" cy="409416"/>
          </a:xfrm>
          <a:prstGeom prst="roundRect">
            <a:avLst>
              <a:gd name="adj" fmla="val 25591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287000" y="5589905"/>
            <a:ext cx="6210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825" dirty="0"/>
          </a:p>
        </p:txBody>
      </p:sp>
      <p:sp>
        <p:nvSpPr>
          <p:cNvPr id="21" name="Shape 17"/>
          <p:cNvSpPr/>
          <p:nvPr/>
        </p:nvSpPr>
        <p:spPr>
          <a:xfrm>
            <a:off x="10287000" y="5773579"/>
            <a:ext cx="2552700" cy="409416"/>
          </a:xfrm>
          <a:prstGeom prst="roundRect">
            <a:avLst>
              <a:gd name="adj" fmla="val 25591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287000" y="6392545"/>
            <a:ext cx="2552700" cy="428466"/>
          </a:xfrm>
          <a:prstGeom prst="roundRect">
            <a:avLst>
              <a:gd name="adj" fmla="val 26677"/>
            </a:avLst>
          </a:prstGeom>
          <a:solidFill>
            <a:srgbClr val="E0590B"/>
          </a:solidFill>
          <a:ln/>
          <a:effectLst>
            <a:outerShdw sx="100000" sy="100000" kx="0" ky="0" algn="bl" rotWithShape="0" blurRad="152400" dist="57150" dir="5400000">
              <a:srgbClr val="E0590B">
                <a:alpha val="2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0420160" y="6516370"/>
            <a:ext cx="2286381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088" dirty="0"/>
          </a:p>
        </p:txBody>
      </p:sp>
      <p:sp>
        <p:nvSpPr>
          <p:cNvPr id="24" name="Text 20"/>
          <p:cNvSpPr/>
          <p:nvPr/>
        </p:nvSpPr>
        <p:spPr>
          <a:xfrm>
            <a:off x="10248710" y="6992462"/>
            <a:ext cx="2629281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 stays active on this device.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27" name="Shape 23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52036" y="9681686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29" name="Text 25"/>
          <p:cNvSpPr/>
          <p:nvPr/>
        </p:nvSpPr>
        <p:spPr>
          <a:xfrm>
            <a:off x="1371600" y="9610248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3844290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251960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incidents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199698"/>
            <a:ext cx="824103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user's live incidents, newest first — with an offline banner when the connection drops. The + button starts a new report.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" name="Text 10"/>
          <p:cNvSpPr/>
          <p:nvPr/>
        </p:nvSpPr>
        <p:spPr>
          <a:xfrm>
            <a:off x="10248900" y="2369026"/>
            <a:ext cx="586105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75" y="2385378"/>
            <a:ext cx="190500" cy="190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039350" y="2743200"/>
            <a:ext cx="3048000" cy="479901"/>
          </a:xfrm>
          <a:prstGeom prst="rect">
            <a:avLst/>
          </a:prstGeom>
          <a:solidFill>
            <a:srgbClr val="FBF0D9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39350" y="3212465"/>
            <a:ext cx="3048000" cy="10636"/>
          </a:xfrm>
          <a:prstGeom prst="rect">
            <a:avLst/>
          </a:prstGeom>
          <a:solidFill>
            <a:srgbClr val="F0DCA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0" y="2906395"/>
            <a:ext cx="1301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407650" y="2828925"/>
            <a:ext cx="2603500" cy="335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926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connection to the server — showing last update.</a:t>
            </a:r>
            <a:endParaRPr lang="en-US" sz="938" dirty="0"/>
          </a:p>
        </p:txBody>
      </p:sp>
      <p:sp>
        <p:nvSpPr>
          <p:cNvPr id="20" name="Shape 14"/>
          <p:cNvSpPr/>
          <p:nvPr/>
        </p:nvSpPr>
        <p:spPr>
          <a:xfrm>
            <a:off x="10039350" y="3223101"/>
            <a:ext cx="3048000" cy="4353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10039350" y="3223101"/>
            <a:ext cx="3048000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39350" y="4252753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3" name="Shape 17"/>
          <p:cNvSpPr/>
          <p:nvPr/>
        </p:nvSpPr>
        <p:spPr>
          <a:xfrm>
            <a:off x="10191750" y="3346926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238" y="3437413"/>
            <a:ext cx="180975" cy="1809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677525" y="3346926"/>
            <a:ext cx="60182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1013" dirty="0"/>
          </a:p>
        </p:txBody>
      </p:sp>
      <p:sp>
        <p:nvSpPr>
          <p:cNvPr id="26" name="Text 19"/>
          <p:cNvSpPr/>
          <p:nvPr/>
        </p:nvSpPr>
        <p:spPr>
          <a:xfrm>
            <a:off x="12809220" y="3389471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4m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10677525" y="3535045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collision, two cars, no injuries. Blocking the right lane near the exit.</a:t>
            </a:r>
            <a:endParaRPr lang="en-US" sz="960" dirty="0"/>
          </a:p>
        </p:txBody>
      </p:sp>
      <p:sp>
        <p:nvSpPr>
          <p:cNvPr id="28" name="Shape 21"/>
          <p:cNvSpPr/>
          <p:nvPr/>
        </p:nvSpPr>
        <p:spPr>
          <a:xfrm>
            <a:off x="10677525" y="3952558"/>
            <a:ext cx="461486" cy="176371"/>
          </a:xfrm>
          <a:prstGeom prst="roundRect">
            <a:avLst>
              <a:gd name="adj" fmla="val 37804"/>
            </a:avLst>
          </a:prstGeom>
          <a:solidFill>
            <a:srgbClr val="E8EFFE"/>
          </a:solidFill>
          <a:ln/>
        </p:spPr>
      </p:sp>
      <p:sp>
        <p:nvSpPr>
          <p:cNvPr id="29" name="Shape 22"/>
          <p:cNvSpPr/>
          <p:nvPr/>
        </p:nvSpPr>
        <p:spPr>
          <a:xfrm>
            <a:off x="10753725" y="4012089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3"/>
          <p:cNvSpPr/>
          <p:nvPr/>
        </p:nvSpPr>
        <p:spPr>
          <a:xfrm>
            <a:off x="10868025" y="3971608"/>
            <a:ext cx="27098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825" dirty="0"/>
          </a:p>
        </p:txBody>
      </p:sp>
      <p:sp>
        <p:nvSpPr>
          <p:cNvPr id="31" name="Shape 24"/>
          <p:cNvSpPr/>
          <p:nvPr/>
        </p:nvSpPr>
        <p:spPr>
          <a:xfrm>
            <a:off x="10039350" y="4263390"/>
            <a:ext cx="3048000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5"/>
          <p:cNvSpPr/>
          <p:nvPr/>
        </p:nvSpPr>
        <p:spPr>
          <a:xfrm>
            <a:off x="10039350" y="5293042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3" name="Shape 26"/>
          <p:cNvSpPr/>
          <p:nvPr/>
        </p:nvSpPr>
        <p:spPr>
          <a:xfrm>
            <a:off x="10191750" y="4387215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238" y="4477702"/>
            <a:ext cx="180975" cy="18097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677525" y="4387215"/>
            <a:ext cx="77978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</a:t>
            </a:r>
            <a:endParaRPr lang="en-US" sz="1013" dirty="0"/>
          </a:p>
        </p:txBody>
      </p:sp>
      <p:sp>
        <p:nvSpPr>
          <p:cNvPr id="36" name="Text 28"/>
          <p:cNvSpPr/>
          <p:nvPr/>
        </p:nvSpPr>
        <p:spPr>
          <a:xfrm>
            <a:off x="12809220" y="4429760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</a:t>
            </a:r>
            <a:endParaRPr lang="en-US" sz="825" dirty="0"/>
          </a:p>
        </p:txBody>
      </p:sp>
      <p:sp>
        <p:nvSpPr>
          <p:cNvPr id="37" name="Text 29"/>
          <p:cNvSpPr/>
          <p:nvPr/>
        </p:nvSpPr>
        <p:spPr>
          <a:xfrm>
            <a:off x="10677525" y="4575334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branch across the carriageway after the storm. Hazard for traffic.</a:t>
            </a:r>
            <a:endParaRPr lang="en-US" sz="960" dirty="0"/>
          </a:p>
        </p:txBody>
      </p:sp>
      <p:sp>
        <p:nvSpPr>
          <p:cNvPr id="38" name="Shape 30"/>
          <p:cNvSpPr/>
          <p:nvPr/>
        </p:nvSpPr>
        <p:spPr>
          <a:xfrm>
            <a:off x="10677525" y="4992846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F0E9FD"/>
          </a:solidFill>
          <a:ln/>
        </p:spPr>
      </p:sp>
      <p:sp>
        <p:nvSpPr>
          <p:cNvPr id="39" name="Shape 31"/>
          <p:cNvSpPr/>
          <p:nvPr/>
        </p:nvSpPr>
        <p:spPr>
          <a:xfrm>
            <a:off x="10753725" y="5052378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2"/>
          <p:cNvSpPr/>
          <p:nvPr/>
        </p:nvSpPr>
        <p:spPr>
          <a:xfrm>
            <a:off x="10868025" y="5011896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825" dirty="0"/>
          </a:p>
        </p:txBody>
      </p:sp>
      <p:sp>
        <p:nvSpPr>
          <p:cNvPr id="41" name="Shape 33"/>
          <p:cNvSpPr/>
          <p:nvPr/>
        </p:nvSpPr>
        <p:spPr>
          <a:xfrm>
            <a:off x="10039350" y="5303679"/>
            <a:ext cx="3048000" cy="10296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4"/>
          <p:cNvSpPr/>
          <p:nvPr/>
        </p:nvSpPr>
        <p:spPr>
          <a:xfrm>
            <a:off x="10191750" y="5427504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238" y="5517991"/>
            <a:ext cx="180975" cy="18097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0677525" y="5427504"/>
            <a:ext cx="75406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45" name="Text 36"/>
          <p:cNvSpPr/>
          <p:nvPr/>
        </p:nvSpPr>
        <p:spPr>
          <a:xfrm>
            <a:off x="12809220" y="5470049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</a:t>
            </a:r>
            <a:endParaRPr lang="en-US" sz="825" dirty="0"/>
          </a:p>
        </p:txBody>
      </p:sp>
      <p:sp>
        <p:nvSpPr>
          <p:cNvPr id="46" name="Text 37"/>
          <p:cNvSpPr/>
          <p:nvPr/>
        </p:nvSpPr>
        <p:spPr>
          <a:xfrm>
            <a:off x="10677525" y="5615622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won't start, smoke from under the hood. Parked on the hard shoulder.</a:t>
            </a:r>
            <a:endParaRPr lang="en-US" sz="960" dirty="0"/>
          </a:p>
        </p:txBody>
      </p:sp>
      <p:sp>
        <p:nvSpPr>
          <p:cNvPr id="47" name="Shape 38"/>
          <p:cNvSpPr/>
          <p:nvPr/>
        </p:nvSpPr>
        <p:spPr>
          <a:xfrm>
            <a:off x="10677525" y="6033135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48" name="Shape 39"/>
          <p:cNvSpPr/>
          <p:nvPr/>
        </p:nvSpPr>
        <p:spPr>
          <a:xfrm>
            <a:off x="10753725" y="6092666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49" name="Text 40"/>
          <p:cNvSpPr/>
          <p:nvPr/>
        </p:nvSpPr>
        <p:spPr>
          <a:xfrm>
            <a:off x="10868025" y="6052185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50" name="Shape 41"/>
          <p:cNvSpPr/>
          <p:nvPr/>
        </p:nvSpPr>
        <p:spPr>
          <a:xfrm>
            <a:off x="12420600" y="7524750"/>
            <a:ext cx="514350" cy="514350"/>
          </a:xfrm>
          <a:prstGeom prst="roundRect">
            <a:avLst>
              <a:gd name="adj" fmla="val 33333"/>
            </a:avLst>
          </a:prstGeom>
          <a:solidFill>
            <a:srgbClr val="E0590B"/>
          </a:solidFill>
          <a:ln/>
          <a:effectLst>
            <a:outerShdw sx="100000" sy="100000" kx="0" ky="0" algn="bl" rotWithShape="0" blurRad="228600" dist="95250" dir="5400000">
              <a:srgbClr val="E0590B">
                <a:alpha val="42000"/>
              </a:srgbClr>
            </a:outerShdw>
          </a:effectLst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63475" y="7667625"/>
            <a:ext cx="228600" cy="22860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10039350" y="7576661"/>
            <a:ext cx="3048000" cy="6338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3"/>
          <p:cNvSpPr/>
          <p:nvPr/>
        </p:nvSpPr>
        <p:spPr>
          <a:xfrm>
            <a:off x="10039350" y="7576661"/>
            <a:ext cx="3048000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54" name="Shape 44"/>
          <p:cNvSpPr/>
          <p:nvPr/>
        </p:nvSpPr>
        <p:spPr>
          <a:xfrm>
            <a:off x="10587038" y="7653972"/>
            <a:ext cx="542925" cy="332581"/>
          </a:xfrm>
          <a:prstGeom prst="roundRect">
            <a:avLst>
              <a:gd name="adj" fmla="val 40095"/>
            </a:avLst>
          </a:prstGeom>
          <a:solidFill>
            <a:srgbClr val="FBEDE2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8488" y="7701597"/>
            <a:ext cx="200025" cy="200025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0706100" y="8015129"/>
            <a:ext cx="381000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C3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825" dirty="0"/>
          </a:p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8188" y="7701597"/>
            <a:ext cx="200025" cy="200025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12095639" y="8015129"/>
            <a:ext cx="421323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25" dirty="0"/>
          </a:p>
        </p:txBody>
      </p:sp>
      <p:sp>
        <p:nvSpPr>
          <p:cNvPr id="59" name="Shape 47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60" name="Shape 48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61" name="Shape 49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1052036" y="9681686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63" name="Text 51"/>
          <p:cNvSpPr/>
          <p:nvPr/>
        </p:nvSpPr>
        <p:spPr>
          <a:xfrm>
            <a:off x="1371600" y="9610248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4051460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459128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incident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406865"/>
            <a:ext cx="824103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 breakdown: a category, a short description, auto-captured GPS location and an optional photo.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2385378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53700" y="2369025"/>
            <a:ext cx="1133792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incident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10039350" y="2743200"/>
            <a:ext cx="3048000" cy="546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10210800" y="2914650"/>
            <a:ext cx="6210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10210800" y="3098325"/>
            <a:ext cx="2705100" cy="421322"/>
          </a:xfrm>
          <a:prstGeom prst="roundRect">
            <a:avLst>
              <a:gd name="adj" fmla="val 24868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261" y="3223259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602437" y="3229133"/>
            <a:ext cx="743267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9989" y="3223259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10800" y="3672046"/>
            <a:ext cx="825341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825" dirty="0"/>
          </a:p>
        </p:txBody>
      </p:sp>
      <p:sp>
        <p:nvSpPr>
          <p:cNvPr id="23" name="Text 16"/>
          <p:cNvSpPr/>
          <p:nvPr/>
        </p:nvSpPr>
        <p:spPr>
          <a:xfrm>
            <a:off x="12412980" y="3672046"/>
            <a:ext cx="57912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/ 500</a:t>
            </a:r>
            <a:endParaRPr lang="en-US" sz="825" dirty="0"/>
          </a:p>
        </p:txBody>
      </p:sp>
      <p:sp>
        <p:nvSpPr>
          <p:cNvPr id="24" name="Shape 17"/>
          <p:cNvSpPr/>
          <p:nvPr/>
        </p:nvSpPr>
        <p:spPr>
          <a:xfrm>
            <a:off x="10210800" y="3855720"/>
            <a:ext cx="2705100" cy="800100"/>
          </a:xfrm>
          <a:prstGeom prst="roundRect">
            <a:avLst>
              <a:gd name="adj" fmla="val 13095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345262" y="3980657"/>
            <a:ext cx="2517330" cy="588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tyre on the front passenger side, no spare in the car. Parked safely on the verge.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0210800" y="4813618"/>
            <a:ext cx="1097756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AUTO</a:t>
            </a:r>
            <a:endParaRPr lang="en-US" sz="825" dirty="0"/>
          </a:p>
        </p:txBody>
      </p:sp>
      <p:sp>
        <p:nvSpPr>
          <p:cNvPr id="27" name="Shape 20"/>
          <p:cNvSpPr/>
          <p:nvPr/>
        </p:nvSpPr>
        <p:spPr>
          <a:xfrm>
            <a:off x="10210800" y="4997290"/>
            <a:ext cx="2705100" cy="402273"/>
          </a:xfrm>
          <a:prstGeom prst="roundRect">
            <a:avLst>
              <a:gd name="adj" fmla="val 26046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261" y="5112702"/>
            <a:ext cx="171450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611962" y="5134610"/>
            <a:ext cx="1998027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52.0907, 5.1214</a:t>
            </a:r>
            <a:endParaRPr lang="en-US" sz="938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9039" y="5122227"/>
            <a:ext cx="152400" cy="1524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210800" y="5551963"/>
            <a:ext cx="116586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· OPTIONAL</a:t>
            </a:r>
            <a:endParaRPr lang="en-US" sz="825" dirty="0"/>
          </a:p>
        </p:txBody>
      </p:sp>
      <p:sp>
        <p:nvSpPr>
          <p:cNvPr id="32" name="Shape 23"/>
          <p:cNvSpPr/>
          <p:nvPr/>
        </p:nvSpPr>
        <p:spPr>
          <a:xfrm>
            <a:off x="10210800" y="5735638"/>
            <a:ext cx="2705100" cy="440372"/>
          </a:xfrm>
          <a:prstGeom prst="roundRect">
            <a:avLst>
              <a:gd name="adj" fmla="val 23792"/>
            </a:avLst>
          </a:prstGeom>
          <a:solidFill>
            <a:srgbClr val="F7F8FA"/>
          </a:solidFill>
          <a:ln w="10636">
            <a:solidFill>
              <a:srgbClr val="E4E7EC"/>
            </a:solidFill>
            <a:prstDash val="dash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5261" y="5870100"/>
            <a:ext cx="171450" cy="1714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621487" y="5875972"/>
            <a:ext cx="78613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photo</a:t>
            </a:r>
            <a:endParaRPr lang="en-US" sz="1013" dirty="0"/>
          </a:p>
        </p:txBody>
      </p:sp>
      <p:sp>
        <p:nvSpPr>
          <p:cNvPr id="35" name="Shape 25"/>
          <p:cNvSpPr/>
          <p:nvPr/>
        </p:nvSpPr>
        <p:spPr>
          <a:xfrm>
            <a:off x="10210800" y="6328409"/>
            <a:ext cx="2705100" cy="428466"/>
          </a:xfrm>
          <a:prstGeom prst="roundRect">
            <a:avLst>
              <a:gd name="adj" fmla="val 26677"/>
            </a:avLst>
          </a:prstGeom>
          <a:solidFill>
            <a:srgbClr val="E0590B"/>
          </a:solidFill>
          <a:ln/>
          <a:effectLst>
            <a:outerShdw sx="100000" sy="100000" kx="0" ky="0" algn="bl" rotWithShape="0" blurRad="152400" dist="57150" dir="5400000">
              <a:srgbClr val="E0590B">
                <a:alpha val="28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10341674" y="6452234"/>
            <a:ext cx="2443353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report</a:t>
            </a:r>
            <a:endParaRPr lang="en-US" sz="1088" dirty="0"/>
          </a:p>
        </p:txBody>
      </p:sp>
      <p:sp>
        <p:nvSpPr>
          <p:cNvPr id="37" name="Shape 27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38" name="Shape 28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39" name="Shape 29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1052036" y="9681686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41" name="Text 31"/>
          <p:cNvSpPr/>
          <p:nvPr/>
        </p:nvSpPr>
        <p:spPr>
          <a:xfrm>
            <a:off x="1371600" y="9610248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3844291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251959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&amp; activity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199697"/>
            <a:ext cx="824103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user follows their incident — current status, the latest message from dispatch, and a full activity timeline of every update.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2385378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53700" y="2369025"/>
            <a:ext cx="748347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10039350" y="2743200"/>
            <a:ext cx="3048000" cy="546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10210800" y="2914650"/>
            <a:ext cx="1044257" cy="246380"/>
          </a:xfrm>
          <a:prstGeom prst="roundRect">
            <a:avLst>
              <a:gd name="adj" fmla="val 30928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7636" y="2966403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497661" y="2963387"/>
            <a:ext cx="727710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</a:t>
            </a:r>
            <a:endParaRPr lang="en-US" sz="938" dirty="0"/>
          </a:p>
        </p:txBody>
      </p:sp>
      <p:sp>
        <p:nvSpPr>
          <p:cNvPr id="20" name="Shape 14"/>
          <p:cNvSpPr/>
          <p:nvPr/>
        </p:nvSpPr>
        <p:spPr>
          <a:xfrm>
            <a:off x="12044680" y="2934812"/>
            <a:ext cx="871220" cy="206057"/>
          </a:xfrm>
          <a:prstGeom prst="roundRect">
            <a:avLst>
              <a:gd name="adj" fmla="val 32358"/>
            </a:avLst>
          </a:prstGeom>
          <a:solidFill>
            <a:srgbClr val="F0E9FD"/>
          </a:solidFill>
          <a:ln/>
        </p:spPr>
      </p:sp>
      <p:sp>
        <p:nvSpPr>
          <p:cNvPr id="21" name="Shape 15"/>
          <p:cNvSpPr/>
          <p:nvPr/>
        </p:nvSpPr>
        <p:spPr>
          <a:xfrm>
            <a:off x="12139930" y="3009265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6"/>
          <p:cNvSpPr/>
          <p:nvPr/>
        </p:nvSpPr>
        <p:spPr>
          <a:xfrm>
            <a:off x="12254230" y="2963387"/>
            <a:ext cx="642620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210800" y="3313430"/>
            <a:ext cx="2786253" cy="68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43"/>
              </a:lnSpc>
              <a:buNone/>
            </a:pPr>
            <a:r>
              <a:rPr lang="en-US" sz="108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branch across the carriageway after the storm. About half the lane is blocked and it is a hazard for passing traffic.</a:t>
            </a:r>
            <a:endParaRPr lang="en-US" sz="1088" dirty="0"/>
          </a:p>
        </p:txBody>
      </p:sp>
      <p:sp>
        <p:nvSpPr>
          <p:cNvPr id="24" name="Shape 18"/>
          <p:cNvSpPr/>
          <p:nvPr/>
        </p:nvSpPr>
        <p:spPr>
          <a:xfrm>
            <a:off x="10210800" y="4126864"/>
            <a:ext cx="2705100" cy="1390650"/>
          </a:xfrm>
          <a:prstGeom prst="roundRect">
            <a:avLst>
              <a:gd name="adj" fmla="val 8219"/>
            </a:avLst>
          </a:prstGeom>
          <a:solidFill>
            <a:srgbClr val="C6CDD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10800" y="5688964"/>
            <a:ext cx="2705100" cy="502920"/>
          </a:xfrm>
          <a:prstGeom prst="roundRect">
            <a:avLst>
              <a:gd name="adj" fmla="val 22727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261" y="5854701"/>
            <a:ext cx="171450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11962" y="5813901"/>
            <a:ext cx="1147763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10611962" y="5939314"/>
            <a:ext cx="1147763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52.0788, 5.0978</a:t>
            </a:r>
            <a:endParaRPr lang="en-US" sz="938" dirty="0"/>
          </a:p>
        </p:txBody>
      </p:sp>
      <p:sp>
        <p:nvSpPr>
          <p:cNvPr id="29" name="Shape 22"/>
          <p:cNvSpPr/>
          <p:nvPr/>
        </p:nvSpPr>
        <p:spPr>
          <a:xfrm>
            <a:off x="10210800" y="6325235"/>
            <a:ext cx="2705100" cy="1154430"/>
          </a:xfrm>
          <a:prstGeom prst="roundRect">
            <a:avLst>
              <a:gd name="adj" fmla="val 9901"/>
            </a:avLst>
          </a:prstGeom>
          <a:solidFill>
            <a:srgbClr val="FBEDE2"/>
          </a:solidFill>
          <a:ln w="10636">
            <a:solidFill>
              <a:srgbClr val="F3D8C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0354786" y="6450171"/>
            <a:ext cx="2493327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NOTE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10354786" y="6594635"/>
            <a:ext cx="2493327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recovery unit has been dispatched and is on the way. Estimated arrival 15–20 minutes. Please stay clear of the carriageway.</a:t>
            </a:r>
            <a:endParaRPr lang="en-US" sz="998" dirty="0"/>
          </a:p>
        </p:txBody>
      </p:sp>
      <p:sp>
        <p:nvSpPr>
          <p:cNvPr id="32" name="Shape 25"/>
          <p:cNvSpPr/>
          <p:nvPr/>
        </p:nvSpPr>
        <p:spPr>
          <a:xfrm>
            <a:off x="10210800" y="7670164"/>
            <a:ext cx="2705100" cy="9525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7886858"/>
            <a:ext cx="142875" cy="14287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429875" y="7873208"/>
            <a:ext cx="1832293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1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12262168" y="7870189"/>
            <a:ext cx="653732" cy="176371"/>
          </a:xfrm>
          <a:prstGeom prst="roundRect">
            <a:avLst>
              <a:gd name="adj" fmla="val 37804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2349004" y="7899876"/>
            <a:ext cx="55626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highlight>
                  <a:srgbClr val="F1F3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788" dirty="0"/>
          </a:p>
        </p:txBody>
      </p:sp>
      <p:sp>
        <p:nvSpPr>
          <p:cNvPr id="37" name="Shape 29"/>
          <p:cNvSpPr/>
          <p:nvPr/>
        </p:nvSpPr>
        <p:spPr>
          <a:xfrm>
            <a:off x="10287000" y="8360885"/>
            <a:ext cx="19050" cy="34321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8" name="Shape 30"/>
          <p:cNvSpPr/>
          <p:nvPr/>
        </p:nvSpPr>
        <p:spPr>
          <a:xfrm>
            <a:off x="10210800" y="8208485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E0590B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3663" y="8251348"/>
            <a:ext cx="85725" cy="8572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506075" y="8189435"/>
            <a:ext cx="106283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reported this</a:t>
            </a:r>
            <a:endParaRPr lang="en-US" sz="975" dirty="0"/>
          </a:p>
        </p:txBody>
      </p:sp>
      <p:sp>
        <p:nvSpPr>
          <p:cNvPr id="41" name="Text 32"/>
          <p:cNvSpPr/>
          <p:nvPr/>
        </p:nvSpPr>
        <p:spPr>
          <a:xfrm>
            <a:off x="12630150" y="8242618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</a:t>
            </a:r>
            <a:endParaRPr lang="en-US" sz="7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6075" y="8383586"/>
            <a:ext cx="104775" cy="10477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0658475" y="8377554"/>
            <a:ext cx="26479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825" dirty="0"/>
          </a:p>
        </p:txBody>
      </p:sp>
      <p:sp>
        <p:nvSpPr>
          <p:cNvPr id="44" name="Shape 34"/>
          <p:cNvSpPr/>
          <p:nvPr/>
        </p:nvSpPr>
        <p:spPr>
          <a:xfrm>
            <a:off x="10287000" y="8837456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5" name="Shape 35"/>
          <p:cNvSpPr/>
          <p:nvPr/>
        </p:nvSpPr>
        <p:spPr>
          <a:xfrm>
            <a:off x="10210800" y="8685056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B7791F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10267950" y="8742206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47" name="Text 37"/>
          <p:cNvSpPr/>
          <p:nvPr/>
        </p:nvSpPr>
        <p:spPr>
          <a:xfrm>
            <a:off x="10506075" y="8674419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48" name="Shape 38"/>
          <p:cNvSpPr/>
          <p:nvPr/>
        </p:nvSpPr>
        <p:spPr>
          <a:xfrm>
            <a:off x="11471275" y="8666006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49" name="Shape 39"/>
          <p:cNvSpPr/>
          <p:nvPr/>
        </p:nvSpPr>
        <p:spPr>
          <a:xfrm>
            <a:off x="11547475" y="8725537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50" name="Text 40"/>
          <p:cNvSpPr/>
          <p:nvPr/>
        </p:nvSpPr>
        <p:spPr>
          <a:xfrm>
            <a:off x="11661775" y="8685056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51" name="Text 41"/>
          <p:cNvSpPr/>
          <p:nvPr/>
        </p:nvSpPr>
        <p:spPr>
          <a:xfrm>
            <a:off x="12630150" y="8727598"/>
            <a:ext cx="361950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08:19</a:t>
            </a:r>
            <a:endParaRPr lang="en-US" sz="75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075" y="8876984"/>
            <a:ext cx="104775" cy="104775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0658475" y="8870952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54" name="Shape 43"/>
          <p:cNvSpPr/>
          <p:nvPr/>
        </p:nvSpPr>
        <p:spPr>
          <a:xfrm>
            <a:off x="10287000" y="9330849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55" name="Shape 44"/>
          <p:cNvSpPr/>
          <p:nvPr/>
        </p:nvSpPr>
        <p:spPr>
          <a:xfrm>
            <a:off x="10210800" y="9178449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7C3AED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10267950" y="9235599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Text 46"/>
          <p:cNvSpPr/>
          <p:nvPr/>
        </p:nvSpPr>
        <p:spPr>
          <a:xfrm>
            <a:off x="10506075" y="9167813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58" name="Shape 47"/>
          <p:cNvSpPr/>
          <p:nvPr/>
        </p:nvSpPr>
        <p:spPr>
          <a:xfrm>
            <a:off x="11471275" y="9159399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F0E9FD"/>
          </a:solidFill>
          <a:ln/>
        </p:spPr>
      </p:sp>
      <p:sp>
        <p:nvSpPr>
          <p:cNvPr id="59" name="Shape 48"/>
          <p:cNvSpPr/>
          <p:nvPr/>
        </p:nvSpPr>
        <p:spPr>
          <a:xfrm>
            <a:off x="11547475" y="9218930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0" name="Text 49"/>
          <p:cNvSpPr/>
          <p:nvPr/>
        </p:nvSpPr>
        <p:spPr>
          <a:xfrm>
            <a:off x="11661775" y="9178449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825" dirty="0"/>
          </a:p>
        </p:txBody>
      </p:sp>
      <p:sp>
        <p:nvSpPr>
          <p:cNvPr id="61" name="Text 50"/>
          <p:cNvSpPr/>
          <p:nvPr/>
        </p:nvSpPr>
        <p:spPr>
          <a:xfrm>
            <a:off x="12630150" y="9220995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08:40</a:t>
            </a:r>
            <a:endParaRPr lang="en-US" sz="750" dirty="0"/>
          </a:p>
        </p:txBody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6075" y="9370377"/>
            <a:ext cx="104775" cy="104775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10658475" y="9364345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64" name="Shape 52"/>
          <p:cNvSpPr/>
          <p:nvPr/>
        </p:nvSpPr>
        <p:spPr>
          <a:xfrm>
            <a:off x="10210800" y="9671842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646B7A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53663" y="9714705"/>
            <a:ext cx="85725" cy="85725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10506075" y="9652792"/>
            <a:ext cx="139890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from dispatch</a:t>
            </a:r>
            <a:endParaRPr lang="en-US" sz="975" dirty="0"/>
          </a:p>
        </p:txBody>
      </p:sp>
      <p:sp>
        <p:nvSpPr>
          <p:cNvPr id="67" name="Text 54"/>
          <p:cNvSpPr/>
          <p:nvPr/>
        </p:nvSpPr>
        <p:spPr>
          <a:xfrm>
            <a:off x="12630150" y="9705975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08:40</a:t>
            </a:r>
            <a:endParaRPr lang="en-US" sz="750" dirty="0"/>
          </a:p>
        </p:txBody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6075" y="9846943"/>
            <a:ext cx="104775" cy="104775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10658475" y="9840911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70" name="Shape 56"/>
          <p:cNvSpPr/>
          <p:nvPr/>
        </p:nvSpPr>
        <p:spPr>
          <a:xfrm>
            <a:off x="10506075" y="10043638"/>
            <a:ext cx="2409825" cy="549910"/>
          </a:xfrm>
          <a:prstGeom prst="roundRect">
            <a:avLst>
              <a:gd name="adj" fmla="val 17321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sp>
        <p:nvSpPr>
          <p:cNvPr id="71" name="Text 57"/>
          <p:cNvSpPr/>
          <p:nvPr/>
        </p:nvSpPr>
        <p:spPr>
          <a:xfrm>
            <a:off x="10631012" y="10139999"/>
            <a:ext cx="2236152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recovery unit has been dispatched and is on the way. ETA 15–20 minutes.</a:t>
            </a:r>
            <a:endParaRPr lang="en-US" sz="938" dirty="0"/>
          </a:p>
        </p:txBody>
      </p:sp>
      <p:sp>
        <p:nvSpPr>
          <p:cNvPr id="72" name="Shape 58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73" name="Shape 59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74" name="Shape 60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75" name="Shape 61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76" name="Text 62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4258628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666297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614034"/>
            <a:ext cx="824103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incidents, all resolved, kept for the road user's reference.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" name="Text 10"/>
          <p:cNvSpPr/>
          <p:nvPr/>
        </p:nvSpPr>
        <p:spPr>
          <a:xfrm>
            <a:off x="10248900" y="2369027"/>
            <a:ext cx="662146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0039350" y="2743200"/>
            <a:ext cx="3048000" cy="48334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10039350" y="2743200"/>
            <a:ext cx="3048000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10039350" y="3772852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8" name="Shape 14"/>
          <p:cNvSpPr/>
          <p:nvPr/>
        </p:nvSpPr>
        <p:spPr>
          <a:xfrm>
            <a:off x="10191750" y="2867025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38" y="2957513"/>
            <a:ext cx="180975" cy="1809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77525" y="2867025"/>
            <a:ext cx="75406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21" name="Text 16"/>
          <p:cNvSpPr/>
          <p:nvPr/>
        </p:nvSpPr>
        <p:spPr>
          <a:xfrm>
            <a:off x="12306300" y="2909571"/>
            <a:ext cx="7048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days ago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10677525" y="3055144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battery in the car park, needed a jump start. Resolved on site.</a:t>
            </a:r>
            <a:endParaRPr lang="en-US" sz="960" dirty="0"/>
          </a:p>
        </p:txBody>
      </p:sp>
      <p:sp>
        <p:nvSpPr>
          <p:cNvPr id="23" name="Shape 18"/>
          <p:cNvSpPr/>
          <p:nvPr/>
        </p:nvSpPr>
        <p:spPr>
          <a:xfrm>
            <a:off x="10677525" y="3472658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E2F4EC"/>
          </a:solidFill>
          <a:ln/>
        </p:spPr>
      </p:sp>
      <p:sp>
        <p:nvSpPr>
          <p:cNvPr id="24" name="Shape 19"/>
          <p:cNvSpPr/>
          <p:nvPr/>
        </p:nvSpPr>
        <p:spPr>
          <a:xfrm>
            <a:off x="10753725" y="3532189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25" name="Text 20"/>
          <p:cNvSpPr/>
          <p:nvPr/>
        </p:nvSpPr>
        <p:spPr>
          <a:xfrm>
            <a:off x="10868025" y="3491708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26" name="Shape 21"/>
          <p:cNvSpPr/>
          <p:nvPr/>
        </p:nvSpPr>
        <p:spPr>
          <a:xfrm>
            <a:off x="10039350" y="3783490"/>
            <a:ext cx="3048000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10039350" y="4813143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8" name="Shape 23"/>
          <p:cNvSpPr/>
          <p:nvPr/>
        </p:nvSpPr>
        <p:spPr>
          <a:xfrm>
            <a:off x="10191750" y="3907315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238" y="3997802"/>
            <a:ext cx="180975" cy="1809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677525" y="3907315"/>
            <a:ext cx="41370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013" dirty="0"/>
          </a:p>
        </p:txBody>
      </p:sp>
      <p:sp>
        <p:nvSpPr>
          <p:cNvPr id="31" name="Text 25"/>
          <p:cNvSpPr/>
          <p:nvPr/>
        </p:nvSpPr>
        <p:spPr>
          <a:xfrm>
            <a:off x="12306300" y="3949857"/>
            <a:ext cx="7048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week ago</a:t>
            </a:r>
            <a:endParaRPr lang="en-US" sz="825" dirty="0"/>
          </a:p>
        </p:txBody>
      </p:sp>
      <p:sp>
        <p:nvSpPr>
          <p:cNvPr id="32" name="Text 26"/>
          <p:cNvSpPr/>
          <p:nvPr/>
        </p:nvSpPr>
        <p:spPr>
          <a:xfrm>
            <a:off x="10677525" y="4095434"/>
            <a:ext cx="2333625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out of fuel on the ring road. Fuel delivered.</a:t>
            </a:r>
            <a:endParaRPr lang="en-US" sz="960" dirty="0"/>
          </a:p>
        </p:txBody>
      </p:sp>
      <p:sp>
        <p:nvSpPr>
          <p:cNvPr id="33" name="Shape 27"/>
          <p:cNvSpPr/>
          <p:nvPr/>
        </p:nvSpPr>
        <p:spPr>
          <a:xfrm>
            <a:off x="10677525" y="4512943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E2F4EC"/>
          </a:solidFill>
          <a:ln/>
        </p:spPr>
      </p:sp>
      <p:sp>
        <p:nvSpPr>
          <p:cNvPr id="34" name="Shape 28"/>
          <p:cNvSpPr/>
          <p:nvPr/>
        </p:nvSpPr>
        <p:spPr>
          <a:xfrm>
            <a:off x="10753725" y="4572474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35" name="Text 29"/>
          <p:cNvSpPr/>
          <p:nvPr/>
        </p:nvSpPr>
        <p:spPr>
          <a:xfrm>
            <a:off x="10868025" y="4531993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36" name="Shape 30"/>
          <p:cNvSpPr/>
          <p:nvPr/>
        </p:nvSpPr>
        <p:spPr>
          <a:xfrm>
            <a:off x="10039350" y="4823775"/>
            <a:ext cx="3048000" cy="10296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1"/>
          <p:cNvSpPr/>
          <p:nvPr/>
        </p:nvSpPr>
        <p:spPr>
          <a:xfrm>
            <a:off x="10191750" y="4947600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238" y="5038088"/>
            <a:ext cx="180975" cy="18097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0677525" y="4947600"/>
            <a:ext cx="75406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40" name="Text 33"/>
          <p:cNvSpPr/>
          <p:nvPr/>
        </p:nvSpPr>
        <p:spPr>
          <a:xfrm>
            <a:off x="12243434" y="4990147"/>
            <a:ext cx="76771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weeks ago</a:t>
            </a:r>
            <a:endParaRPr lang="en-US" sz="825" dirty="0"/>
          </a:p>
        </p:txBody>
      </p:sp>
      <p:sp>
        <p:nvSpPr>
          <p:cNvPr id="41" name="Text 34"/>
          <p:cNvSpPr/>
          <p:nvPr/>
        </p:nvSpPr>
        <p:spPr>
          <a:xfrm>
            <a:off x="10677525" y="5135719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Overheating engine, coolant topped up and towed to garage.</a:t>
            </a:r>
            <a:endParaRPr lang="en-US" sz="960" dirty="0"/>
          </a:p>
        </p:txBody>
      </p:sp>
      <p:sp>
        <p:nvSpPr>
          <p:cNvPr id="42" name="Shape 35"/>
          <p:cNvSpPr/>
          <p:nvPr/>
        </p:nvSpPr>
        <p:spPr>
          <a:xfrm>
            <a:off x="10677525" y="5553233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E2F4EC"/>
          </a:solidFill>
          <a:ln/>
        </p:spPr>
      </p:sp>
      <p:sp>
        <p:nvSpPr>
          <p:cNvPr id="43" name="Shape 36"/>
          <p:cNvSpPr/>
          <p:nvPr/>
        </p:nvSpPr>
        <p:spPr>
          <a:xfrm>
            <a:off x="10753725" y="5612764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44" name="Text 37"/>
          <p:cNvSpPr/>
          <p:nvPr/>
        </p:nvSpPr>
        <p:spPr>
          <a:xfrm>
            <a:off x="10868025" y="5572283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45" name="Shape 38"/>
          <p:cNvSpPr/>
          <p:nvPr/>
        </p:nvSpPr>
        <p:spPr>
          <a:xfrm>
            <a:off x="10039350" y="7576663"/>
            <a:ext cx="3048000" cy="6338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9"/>
          <p:cNvSpPr/>
          <p:nvPr/>
        </p:nvSpPr>
        <p:spPr>
          <a:xfrm>
            <a:off x="10039350" y="7576663"/>
            <a:ext cx="3048000" cy="10636"/>
          </a:xfrm>
          <a:prstGeom prst="rect">
            <a:avLst/>
          </a:prstGeom>
          <a:solidFill>
            <a:srgbClr val="E4E7EC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8488" y="7701600"/>
            <a:ext cx="200025" cy="200025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0708640" y="8015129"/>
            <a:ext cx="375761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825" dirty="0"/>
          </a:p>
        </p:txBody>
      </p:sp>
      <p:sp>
        <p:nvSpPr>
          <p:cNvPr id="49" name="Shape 41"/>
          <p:cNvSpPr/>
          <p:nvPr/>
        </p:nvSpPr>
        <p:spPr>
          <a:xfrm>
            <a:off x="11996738" y="7653975"/>
            <a:ext cx="542925" cy="332581"/>
          </a:xfrm>
          <a:prstGeom prst="roundRect">
            <a:avLst>
              <a:gd name="adj" fmla="val 40095"/>
            </a:avLst>
          </a:prstGeom>
          <a:solidFill>
            <a:srgbClr val="FBEDE2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8188" y="7701600"/>
            <a:ext cx="200025" cy="200025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2092940" y="8015129"/>
            <a:ext cx="426561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C3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25" dirty="0"/>
          </a:p>
        </p:txBody>
      </p:sp>
      <p:sp>
        <p:nvSpPr>
          <p:cNvPr id="52" name="Shape 43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53" name="Shape 44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54" name="Shape 45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56" name="Text 47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4051460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459128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queue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406865"/>
            <a:ext cx="824103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dispatcher's triage queue: every open incident with its reporter, filterable by status and category.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" name="Text 10"/>
          <p:cNvSpPr/>
          <p:nvPr/>
        </p:nvSpPr>
        <p:spPr>
          <a:xfrm>
            <a:off x="10248900" y="2305687"/>
            <a:ext cx="1071721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incidents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0248900" y="2538571"/>
            <a:ext cx="19240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open · live</a:t>
            </a:r>
            <a:endParaRPr lang="en-US" sz="788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0" y="2394900"/>
            <a:ext cx="171450" cy="17145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75" y="2385375"/>
            <a:ext cx="190500" cy="1905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039350" y="2743200"/>
            <a:ext cx="3048000" cy="5046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10039350" y="3237230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2914013"/>
            <a:ext cx="152400" cy="1524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0420350" y="2847975"/>
            <a:ext cx="399097" cy="284480"/>
          </a:xfrm>
          <a:prstGeom prst="roundRect">
            <a:avLst>
              <a:gd name="adj" fmla="val 30134"/>
            </a:avLst>
          </a:prstGeom>
          <a:solidFill>
            <a:srgbClr val="15171C"/>
          </a:solidFill>
          <a:ln w="10636">
            <a:solidFill>
              <a:srgbClr val="15171C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0545287" y="2915761"/>
            <a:ext cx="225425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38" dirty="0"/>
          </a:p>
        </p:txBody>
      </p:sp>
      <p:sp>
        <p:nvSpPr>
          <p:cNvPr id="23" name="Shape 16"/>
          <p:cNvSpPr/>
          <p:nvPr/>
        </p:nvSpPr>
        <p:spPr>
          <a:xfrm>
            <a:off x="10895647" y="2847975"/>
            <a:ext cx="498793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1020583" y="2915761"/>
            <a:ext cx="325120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38" dirty="0"/>
          </a:p>
        </p:txBody>
      </p:sp>
      <p:sp>
        <p:nvSpPr>
          <p:cNvPr id="25" name="Shape 18"/>
          <p:cNvSpPr/>
          <p:nvPr/>
        </p:nvSpPr>
        <p:spPr>
          <a:xfrm>
            <a:off x="11470640" y="2847975"/>
            <a:ext cx="878364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1595576" y="2915761"/>
            <a:ext cx="704691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38" dirty="0"/>
          </a:p>
        </p:txBody>
      </p:sp>
      <p:sp>
        <p:nvSpPr>
          <p:cNvPr id="27" name="Shape 20"/>
          <p:cNvSpPr/>
          <p:nvPr/>
        </p:nvSpPr>
        <p:spPr>
          <a:xfrm>
            <a:off x="12425203" y="2847975"/>
            <a:ext cx="713105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2550140" y="2915761"/>
            <a:ext cx="539432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</a:t>
            </a:r>
            <a:endParaRPr lang="en-US" sz="938" dirty="0"/>
          </a:p>
        </p:txBody>
      </p:sp>
      <p:sp>
        <p:nvSpPr>
          <p:cNvPr id="29" name="Shape 22"/>
          <p:cNvSpPr/>
          <p:nvPr/>
        </p:nvSpPr>
        <p:spPr>
          <a:xfrm>
            <a:off x="13214509" y="2847975"/>
            <a:ext cx="753269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3339445" y="2915761"/>
            <a:ext cx="579596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938" dirty="0"/>
          </a:p>
        </p:txBody>
      </p:sp>
      <p:sp>
        <p:nvSpPr>
          <p:cNvPr id="31" name="Shape 24"/>
          <p:cNvSpPr/>
          <p:nvPr/>
        </p:nvSpPr>
        <p:spPr>
          <a:xfrm>
            <a:off x="10039350" y="3247867"/>
            <a:ext cx="3048000" cy="49626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5"/>
          <p:cNvSpPr/>
          <p:nvPr/>
        </p:nvSpPr>
        <p:spPr>
          <a:xfrm>
            <a:off x="10039350" y="3247867"/>
            <a:ext cx="3048000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10039350" y="4277519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4" name="Shape 27"/>
          <p:cNvSpPr/>
          <p:nvPr/>
        </p:nvSpPr>
        <p:spPr>
          <a:xfrm>
            <a:off x="10191750" y="3371692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238" y="3462179"/>
            <a:ext cx="180975" cy="1809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677525" y="3371692"/>
            <a:ext cx="60182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1013" dirty="0"/>
          </a:p>
        </p:txBody>
      </p:sp>
      <p:sp>
        <p:nvSpPr>
          <p:cNvPr id="37" name="Text 29"/>
          <p:cNvSpPr/>
          <p:nvPr/>
        </p:nvSpPr>
        <p:spPr>
          <a:xfrm>
            <a:off x="12809220" y="3414238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</a:t>
            </a:r>
            <a:endParaRPr lang="en-US" sz="825" dirty="0"/>
          </a:p>
        </p:txBody>
      </p:sp>
      <p:sp>
        <p:nvSpPr>
          <p:cNvPr id="38" name="Text 30"/>
          <p:cNvSpPr/>
          <p:nvPr/>
        </p:nvSpPr>
        <p:spPr>
          <a:xfrm>
            <a:off x="10677525" y="3559811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collision, two cars, no injuries. Blocking the right lane near the exit.</a:t>
            </a:r>
            <a:endParaRPr lang="en-US" sz="960" dirty="0"/>
          </a:p>
        </p:txBody>
      </p:sp>
      <p:sp>
        <p:nvSpPr>
          <p:cNvPr id="39" name="Shape 31"/>
          <p:cNvSpPr/>
          <p:nvPr/>
        </p:nvSpPr>
        <p:spPr>
          <a:xfrm>
            <a:off x="10677525" y="3977325"/>
            <a:ext cx="461486" cy="176371"/>
          </a:xfrm>
          <a:prstGeom prst="roundRect">
            <a:avLst>
              <a:gd name="adj" fmla="val 37804"/>
            </a:avLst>
          </a:prstGeom>
          <a:solidFill>
            <a:srgbClr val="E8EFFE"/>
          </a:solidFill>
          <a:ln/>
        </p:spPr>
      </p:sp>
      <p:sp>
        <p:nvSpPr>
          <p:cNvPr id="40" name="Shape 32"/>
          <p:cNvSpPr/>
          <p:nvPr/>
        </p:nvSpPr>
        <p:spPr>
          <a:xfrm>
            <a:off x="10753725" y="4036856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3"/>
          <p:cNvSpPr/>
          <p:nvPr/>
        </p:nvSpPr>
        <p:spPr>
          <a:xfrm>
            <a:off x="10868025" y="3996375"/>
            <a:ext cx="27098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825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4261" y="4008281"/>
            <a:ext cx="114300" cy="1143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1386661" y="4007007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u-204</a:t>
            </a:r>
            <a:endParaRPr lang="en-US" sz="825" dirty="0"/>
          </a:p>
        </p:txBody>
      </p:sp>
      <p:sp>
        <p:nvSpPr>
          <p:cNvPr id="44" name="Shape 35"/>
          <p:cNvSpPr/>
          <p:nvPr/>
        </p:nvSpPr>
        <p:spPr>
          <a:xfrm>
            <a:off x="10039350" y="4288157"/>
            <a:ext cx="3048000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6"/>
          <p:cNvSpPr/>
          <p:nvPr/>
        </p:nvSpPr>
        <p:spPr>
          <a:xfrm>
            <a:off x="10039350" y="5317809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6" name="Shape 37"/>
          <p:cNvSpPr/>
          <p:nvPr/>
        </p:nvSpPr>
        <p:spPr>
          <a:xfrm>
            <a:off x="10191750" y="4411982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2238" y="4502469"/>
            <a:ext cx="180975" cy="180975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677525" y="4411982"/>
            <a:ext cx="75406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49" name="Text 39"/>
          <p:cNvSpPr/>
          <p:nvPr/>
        </p:nvSpPr>
        <p:spPr>
          <a:xfrm>
            <a:off x="12809220" y="4454523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9m</a:t>
            </a:r>
            <a:endParaRPr lang="en-US" sz="825" dirty="0"/>
          </a:p>
        </p:txBody>
      </p:sp>
      <p:sp>
        <p:nvSpPr>
          <p:cNvPr id="50" name="Text 40"/>
          <p:cNvSpPr/>
          <p:nvPr/>
        </p:nvSpPr>
        <p:spPr>
          <a:xfrm>
            <a:off x="10677525" y="4600101"/>
            <a:ext cx="2333625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won't start, smoke from under the hood. Hard shoulder.</a:t>
            </a:r>
            <a:endParaRPr lang="en-US" sz="960" dirty="0"/>
          </a:p>
        </p:txBody>
      </p:sp>
      <p:sp>
        <p:nvSpPr>
          <p:cNvPr id="51" name="Shape 41"/>
          <p:cNvSpPr/>
          <p:nvPr/>
        </p:nvSpPr>
        <p:spPr>
          <a:xfrm>
            <a:off x="10677525" y="5017610"/>
            <a:ext cx="461486" cy="176371"/>
          </a:xfrm>
          <a:prstGeom prst="roundRect">
            <a:avLst>
              <a:gd name="adj" fmla="val 37804"/>
            </a:avLst>
          </a:prstGeom>
          <a:solidFill>
            <a:srgbClr val="E8EFFE"/>
          </a:solidFill>
          <a:ln/>
        </p:spPr>
      </p:sp>
      <p:sp>
        <p:nvSpPr>
          <p:cNvPr id="52" name="Shape 42"/>
          <p:cNvSpPr/>
          <p:nvPr/>
        </p:nvSpPr>
        <p:spPr>
          <a:xfrm>
            <a:off x="10753725" y="5077141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Text 43"/>
          <p:cNvSpPr/>
          <p:nvPr/>
        </p:nvSpPr>
        <p:spPr>
          <a:xfrm>
            <a:off x="10868025" y="5036660"/>
            <a:ext cx="27098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825" dirty="0"/>
          </a:p>
        </p:txBody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4261" y="5048566"/>
            <a:ext cx="114300" cy="11430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1386661" y="5047297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u-118</a:t>
            </a:r>
            <a:endParaRPr lang="en-US" sz="825" dirty="0"/>
          </a:p>
        </p:txBody>
      </p:sp>
      <p:sp>
        <p:nvSpPr>
          <p:cNvPr id="56" name="Shape 45"/>
          <p:cNvSpPr/>
          <p:nvPr/>
        </p:nvSpPr>
        <p:spPr>
          <a:xfrm>
            <a:off x="10039350" y="5328442"/>
            <a:ext cx="3048000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46"/>
          <p:cNvSpPr/>
          <p:nvPr/>
        </p:nvSpPr>
        <p:spPr>
          <a:xfrm>
            <a:off x="10039350" y="6358095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8" name="Shape 47"/>
          <p:cNvSpPr/>
          <p:nvPr/>
        </p:nvSpPr>
        <p:spPr>
          <a:xfrm>
            <a:off x="10191750" y="5452267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2238" y="5542755"/>
            <a:ext cx="180975" cy="180975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10677525" y="5452267"/>
            <a:ext cx="77978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</a:t>
            </a:r>
            <a:endParaRPr lang="en-US" sz="1013" dirty="0"/>
          </a:p>
        </p:txBody>
      </p:sp>
      <p:sp>
        <p:nvSpPr>
          <p:cNvPr id="61" name="Text 49"/>
          <p:cNvSpPr/>
          <p:nvPr/>
        </p:nvSpPr>
        <p:spPr>
          <a:xfrm>
            <a:off x="12746355" y="5494813"/>
            <a:ext cx="26479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26m</a:t>
            </a:r>
            <a:endParaRPr lang="en-US" sz="825" dirty="0"/>
          </a:p>
        </p:txBody>
      </p:sp>
      <p:sp>
        <p:nvSpPr>
          <p:cNvPr id="62" name="Text 50"/>
          <p:cNvSpPr/>
          <p:nvPr/>
        </p:nvSpPr>
        <p:spPr>
          <a:xfrm>
            <a:off x="10677525" y="5640386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branch across the carriageway after the storm.</a:t>
            </a:r>
            <a:endParaRPr lang="en-US" sz="960" dirty="0"/>
          </a:p>
        </p:txBody>
      </p:sp>
      <p:sp>
        <p:nvSpPr>
          <p:cNvPr id="63" name="Shape 51"/>
          <p:cNvSpPr/>
          <p:nvPr/>
        </p:nvSpPr>
        <p:spPr>
          <a:xfrm>
            <a:off x="10677525" y="6057900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64" name="Shape 52"/>
          <p:cNvSpPr/>
          <p:nvPr/>
        </p:nvSpPr>
        <p:spPr>
          <a:xfrm>
            <a:off x="10753725" y="6117431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5" name="Text 53"/>
          <p:cNvSpPr/>
          <p:nvPr/>
        </p:nvSpPr>
        <p:spPr>
          <a:xfrm>
            <a:off x="10868025" y="6076950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53691" y="6088856"/>
            <a:ext cx="114300" cy="114300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11906091" y="6087587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u-077</a:t>
            </a:r>
            <a:endParaRPr lang="en-US" sz="825" dirty="0"/>
          </a:p>
        </p:txBody>
      </p:sp>
      <p:sp>
        <p:nvSpPr>
          <p:cNvPr id="68" name="Shape 55"/>
          <p:cNvSpPr/>
          <p:nvPr/>
        </p:nvSpPr>
        <p:spPr>
          <a:xfrm>
            <a:off x="10039350" y="6368732"/>
            <a:ext cx="3048000" cy="10296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56"/>
          <p:cNvSpPr/>
          <p:nvPr/>
        </p:nvSpPr>
        <p:spPr>
          <a:xfrm>
            <a:off x="10191750" y="6492557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2238" y="6583045"/>
            <a:ext cx="180975" cy="180975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10677525" y="6492557"/>
            <a:ext cx="75406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72" name="Text 58"/>
          <p:cNvSpPr/>
          <p:nvPr/>
        </p:nvSpPr>
        <p:spPr>
          <a:xfrm>
            <a:off x="12746355" y="6535103"/>
            <a:ext cx="26479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41m</a:t>
            </a:r>
            <a:endParaRPr lang="en-US" sz="825" dirty="0"/>
          </a:p>
        </p:txBody>
      </p:sp>
      <p:sp>
        <p:nvSpPr>
          <p:cNvPr id="73" name="Text 59"/>
          <p:cNvSpPr/>
          <p:nvPr/>
        </p:nvSpPr>
        <p:spPr>
          <a:xfrm>
            <a:off x="10677525" y="6680676"/>
            <a:ext cx="2333625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tyre, no spare. Front passenger side, parked on the verge.</a:t>
            </a:r>
            <a:endParaRPr lang="en-US" sz="960" dirty="0"/>
          </a:p>
        </p:txBody>
      </p:sp>
      <p:sp>
        <p:nvSpPr>
          <p:cNvPr id="74" name="Shape 60"/>
          <p:cNvSpPr/>
          <p:nvPr/>
        </p:nvSpPr>
        <p:spPr>
          <a:xfrm>
            <a:off x="10677525" y="7098190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F0E9FD"/>
          </a:solidFill>
          <a:ln/>
        </p:spPr>
      </p:sp>
      <p:sp>
        <p:nvSpPr>
          <p:cNvPr id="75" name="Shape 61"/>
          <p:cNvSpPr/>
          <p:nvPr/>
        </p:nvSpPr>
        <p:spPr>
          <a:xfrm>
            <a:off x="10753725" y="7157721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6" name="Text 62"/>
          <p:cNvSpPr/>
          <p:nvPr/>
        </p:nvSpPr>
        <p:spPr>
          <a:xfrm>
            <a:off x="10868025" y="7117240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825" dirty="0"/>
          </a:p>
        </p:txBody>
      </p:sp>
      <p:pic>
        <p:nvPicPr>
          <p:cNvPr id="7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58905" y="7129146"/>
            <a:ext cx="114300" cy="114300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11711305" y="7127877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u-203</a:t>
            </a:r>
            <a:endParaRPr lang="en-US" sz="825" dirty="0"/>
          </a:p>
        </p:txBody>
      </p:sp>
      <p:sp>
        <p:nvSpPr>
          <p:cNvPr id="79" name="Shape 64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80" name="Shape 65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81" name="Shape 66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83" name="Text 68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3844291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251959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audit history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199697"/>
            <a:ext cx="824103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 view plus a complete audit history of who changed what, and when. The category and status are tappable to change them.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2385375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53700" y="2305687"/>
            <a:ext cx="748347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553700" y="2538571"/>
            <a:ext cx="20764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u-204 · 9m ago</a:t>
            </a:r>
            <a:endParaRPr lang="en-US" sz="788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75" y="2385375"/>
            <a:ext cx="190500" cy="1905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039350" y="2743200"/>
            <a:ext cx="3048000" cy="546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10210800" y="2914650"/>
            <a:ext cx="1098550" cy="265430"/>
          </a:xfrm>
          <a:prstGeom prst="roundRect">
            <a:avLst>
              <a:gd name="adj" fmla="val 28708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161" y="2975925"/>
            <a:ext cx="142875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6711" y="2972912"/>
            <a:ext cx="5629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938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9639" y="2975925"/>
            <a:ext cx="142875" cy="14287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591925" y="2914650"/>
            <a:ext cx="1323975" cy="265430"/>
          </a:xfrm>
          <a:prstGeom prst="roundRect">
            <a:avLst>
              <a:gd name="adj" fmla="val 32297"/>
            </a:avLst>
          </a:prstGeom>
          <a:solidFill>
            <a:srgbClr val="FBF0D9"/>
          </a:solidFill>
          <a:ln w="10636">
            <a:solidFill>
              <a:srgbClr val="B7791F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4171C">
                <a:alpha val="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1707337" y="3018788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5" name="Text 17"/>
          <p:cNvSpPr/>
          <p:nvPr/>
        </p:nvSpPr>
        <p:spPr>
          <a:xfrm>
            <a:off x="11831162" y="2972912"/>
            <a:ext cx="8550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18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6189" y="2975925"/>
            <a:ext cx="142875" cy="1428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210800" y="3332480"/>
            <a:ext cx="2786253" cy="89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43"/>
              </a:lnSpc>
              <a:buNone/>
            </a:pPr>
            <a:r>
              <a:rPr lang="en-US" sz="108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 between two cars on the exit ramp. No injuries reported. The right lane is partially blocked and traffic is building up behind the incident.</a:t>
            </a:r>
            <a:endParaRPr lang="en-US" sz="1088" dirty="0"/>
          </a:p>
        </p:txBody>
      </p:sp>
      <p:sp>
        <p:nvSpPr>
          <p:cNvPr id="28" name="Shape 19"/>
          <p:cNvSpPr/>
          <p:nvPr/>
        </p:nvSpPr>
        <p:spPr>
          <a:xfrm>
            <a:off x="10210800" y="4359911"/>
            <a:ext cx="2705100" cy="1390650"/>
          </a:xfrm>
          <a:prstGeom prst="roundRect">
            <a:avLst>
              <a:gd name="adj" fmla="val 8219"/>
            </a:avLst>
          </a:prstGeom>
          <a:solidFill>
            <a:srgbClr val="C6CDD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10210800" y="5922011"/>
            <a:ext cx="2705100" cy="502920"/>
          </a:xfrm>
          <a:prstGeom prst="roundRect">
            <a:avLst>
              <a:gd name="adj" fmla="val 22727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5261" y="6087745"/>
            <a:ext cx="171450" cy="1714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611962" y="6046947"/>
            <a:ext cx="1147763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750" dirty="0"/>
          </a:p>
        </p:txBody>
      </p:sp>
      <p:sp>
        <p:nvSpPr>
          <p:cNvPr id="32" name="Text 22"/>
          <p:cNvSpPr/>
          <p:nvPr/>
        </p:nvSpPr>
        <p:spPr>
          <a:xfrm>
            <a:off x="10611962" y="6172358"/>
            <a:ext cx="1147763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52.1009, 5.1758</a:t>
            </a:r>
            <a:endParaRPr lang="en-US" sz="938" dirty="0"/>
          </a:p>
        </p:txBody>
      </p:sp>
      <p:sp>
        <p:nvSpPr>
          <p:cNvPr id="33" name="Shape 23"/>
          <p:cNvSpPr/>
          <p:nvPr/>
        </p:nvSpPr>
        <p:spPr>
          <a:xfrm>
            <a:off x="10210800" y="6558279"/>
            <a:ext cx="2705100" cy="774382"/>
          </a:xfrm>
          <a:prstGeom prst="roundRect">
            <a:avLst>
              <a:gd name="adj" fmla="val 14760"/>
            </a:avLst>
          </a:prstGeom>
          <a:solidFill>
            <a:srgbClr val="FBEDE2"/>
          </a:solidFill>
          <a:ln w="10636">
            <a:solidFill>
              <a:srgbClr val="F3D8C2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10354786" y="6683215"/>
            <a:ext cx="2493327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NOTE</a:t>
            </a:r>
            <a:endParaRPr lang="en-US" sz="750" dirty="0"/>
          </a:p>
        </p:txBody>
      </p:sp>
      <p:sp>
        <p:nvSpPr>
          <p:cNvPr id="35" name="Text 25"/>
          <p:cNvSpPr/>
          <p:nvPr/>
        </p:nvSpPr>
        <p:spPr>
          <a:xfrm>
            <a:off x="10354786" y="6827681"/>
            <a:ext cx="2493327" cy="41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patrol unit has been notified and is being assigned.</a:t>
            </a:r>
            <a:endParaRPr lang="en-US" sz="998" dirty="0"/>
          </a:p>
        </p:txBody>
      </p:sp>
      <p:sp>
        <p:nvSpPr>
          <p:cNvPr id="36" name="Shape 26"/>
          <p:cNvSpPr/>
          <p:nvPr/>
        </p:nvSpPr>
        <p:spPr>
          <a:xfrm>
            <a:off x="10210800" y="7523164"/>
            <a:ext cx="2705100" cy="9525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0800" y="7739858"/>
            <a:ext cx="142875" cy="14287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0429875" y="7726203"/>
            <a:ext cx="1832293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1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history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12262168" y="7723189"/>
            <a:ext cx="653732" cy="176371"/>
          </a:xfrm>
          <a:prstGeom prst="roundRect">
            <a:avLst>
              <a:gd name="adj" fmla="val 37804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12349004" y="7752875"/>
            <a:ext cx="55626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highlight>
                  <a:srgbClr val="F1F3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788" dirty="0"/>
          </a:p>
        </p:txBody>
      </p:sp>
      <p:sp>
        <p:nvSpPr>
          <p:cNvPr id="41" name="Shape 30"/>
          <p:cNvSpPr/>
          <p:nvPr/>
        </p:nvSpPr>
        <p:spPr>
          <a:xfrm>
            <a:off x="10287000" y="8213885"/>
            <a:ext cx="19050" cy="800259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2" name="Shape 31"/>
          <p:cNvSpPr/>
          <p:nvPr/>
        </p:nvSpPr>
        <p:spPr>
          <a:xfrm>
            <a:off x="10210800" y="8061485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E0590B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3663" y="8104347"/>
            <a:ext cx="85725" cy="8572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0506075" y="8042435"/>
            <a:ext cx="109029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reported</a:t>
            </a:r>
            <a:endParaRPr lang="en-US" sz="975" dirty="0"/>
          </a:p>
        </p:txBody>
      </p:sp>
      <p:sp>
        <p:nvSpPr>
          <p:cNvPr id="45" name="Text 33"/>
          <p:cNvSpPr/>
          <p:nvPr/>
        </p:nvSpPr>
        <p:spPr>
          <a:xfrm>
            <a:off x="12630150" y="8095613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10:32</a:t>
            </a:r>
            <a:endParaRPr lang="en-US" sz="7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6075" y="8236586"/>
            <a:ext cx="104775" cy="104775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10658475" y="8230553"/>
            <a:ext cx="114490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u-204 · road user</a:t>
            </a:r>
            <a:endParaRPr lang="en-US" sz="825" dirty="0"/>
          </a:p>
        </p:txBody>
      </p:sp>
      <p:sp>
        <p:nvSpPr>
          <p:cNvPr id="48" name="Shape 35"/>
          <p:cNvSpPr/>
          <p:nvPr/>
        </p:nvSpPr>
        <p:spPr>
          <a:xfrm>
            <a:off x="10506075" y="8433276"/>
            <a:ext cx="2409825" cy="371316"/>
          </a:xfrm>
          <a:prstGeom prst="roundRect">
            <a:avLst>
              <a:gd name="adj" fmla="val 25652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10631012" y="8529637"/>
            <a:ext cx="2236152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with photo and GPS location.</a:t>
            </a:r>
            <a:endParaRPr lang="en-US" sz="938" dirty="0"/>
          </a:p>
        </p:txBody>
      </p:sp>
      <p:sp>
        <p:nvSpPr>
          <p:cNvPr id="50" name="Shape 37"/>
          <p:cNvSpPr/>
          <p:nvPr/>
        </p:nvSpPr>
        <p:spPr>
          <a:xfrm>
            <a:off x="10287000" y="9147493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51" name="Shape 38"/>
          <p:cNvSpPr/>
          <p:nvPr/>
        </p:nvSpPr>
        <p:spPr>
          <a:xfrm>
            <a:off x="10210800" y="8995093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2563EB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10267950" y="905224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Text 40"/>
          <p:cNvSpPr/>
          <p:nvPr/>
        </p:nvSpPr>
        <p:spPr>
          <a:xfrm>
            <a:off x="10506075" y="8984456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54" name="Shape 41"/>
          <p:cNvSpPr/>
          <p:nvPr/>
        </p:nvSpPr>
        <p:spPr>
          <a:xfrm>
            <a:off x="11471275" y="8976043"/>
            <a:ext cx="461486" cy="176371"/>
          </a:xfrm>
          <a:prstGeom prst="roundRect">
            <a:avLst>
              <a:gd name="adj" fmla="val 37804"/>
            </a:avLst>
          </a:prstGeom>
          <a:solidFill>
            <a:srgbClr val="E8EFFE"/>
          </a:solidFill>
          <a:ln/>
        </p:spPr>
      </p:sp>
      <p:sp>
        <p:nvSpPr>
          <p:cNvPr id="55" name="Shape 42"/>
          <p:cNvSpPr/>
          <p:nvPr/>
        </p:nvSpPr>
        <p:spPr>
          <a:xfrm>
            <a:off x="11547475" y="9035574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Text 43"/>
          <p:cNvSpPr/>
          <p:nvPr/>
        </p:nvSpPr>
        <p:spPr>
          <a:xfrm>
            <a:off x="11661775" y="8995093"/>
            <a:ext cx="27098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825" dirty="0"/>
          </a:p>
        </p:txBody>
      </p:sp>
      <p:sp>
        <p:nvSpPr>
          <p:cNvPr id="57" name="Text 44"/>
          <p:cNvSpPr/>
          <p:nvPr/>
        </p:nvSpPr>
        <p:spPr>
          <a:xfrm>
            <a:off x="12630150" y="9037639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10:32</a:t>
            </a:r>
            <a:endParaRPr lang="en-US" sz="75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6075" y="9187021"/>
            <a:ext cx="104775" cy="104775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10658475" y="9180988"/>
            <a:ext cx="453390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825" dirty="0"/>
          </a:p>
        </p:txBody>
      </p:sp>
      <p:sp>
        <p:nvSpPr>
          <p:cNvPr id="60" name="Shape 46"/>
          <p:cNvSpPr/>
          <p:nvPr/>
        </p:nvSpPr>
        <p:spPr>
          <a:xfrm>
            <a:off x="10287000" y="9640886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61" name="Shape 47"/>
          <p:cNvSpPr/>
          <p:nvPr/>
        </p:nvSpPr>
        <p:spPr>
          <a:xfrm>
            <a:off x="10210800" y="9488486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B7791F"/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10267950" y="9545636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3" name="Text 49"/>
          <p:cNvSpPr/>
          <p:nvPr/>
        </p:nvSpPr>
        <p:spPr>
          <a:xfrm>
            <a:off x="10506075" y="9477849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64" name="Shape 50"/>
          <p:cNvSpPr/>
          <p:nvPr/>
        </p:nvSpPr>
        <p:spPr>
          <a:xfrm>
            <a:off x="11471275" y="9469436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65" name="Shape 51"/>
          <p:cNvSpPr/>
          <p:nvPr/>
        </p:nvSpPr>
        <p:spPr>
          <a:xfrm>
            <a:off x="11547475" y="9528967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6" name="Text 52"/>
          <p:cNvSpPr/>
          <p:nvPr/>
        </p:nvSpPr>
        <p:spPr>
          <a:xfrm>
            <a:off x="11661775" y="9488486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67" name="Text 53"/>
          <p:cNvSpPr/>
          <p:nvPr/>
        </p:nvSpPr>
        <p:spPr>
          <a:xfrm>
            <a:off x="12630150" y="9531032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10:34</a:t>
            </a:r>
            <a:endParaRPr lang="en-US" sz="750" dirty="0"/>
          </a:p>
        </p:txBody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6075" y="9680418"/>
            <a:ext cx="104775" cy="104775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10658475" y="9674382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Vos · dispatcher</a:t>
            </a:r>
            <a:endParaRPr lang="en-US" sz="825" dirty="0"/>
          </a:p>
        </p:txBody>
      </p:sp>
      <p:sp>
        <p:nvSpPr>
          <p:cNvPr id="70" name="Shape 55"/>
          <p:cNvSpPr/>
          <p:nvPr/>
        </p:nvSpPr>
        <p:spPr>
          <a:xfrm>
            <a:off x="10210800" y="9981884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646B7A"/>
            </a:solidFill>
            <a:prstDash val="solid"/>
          </a:ln>
        </p:spPr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53663" y="10024746"/>
            <a:ext cx="85725" cy="85725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10506075" y="9962834"/>
            <a:ext cx="106632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to road user</a:t>
            </a:r>
            <a:endParaRPr lang="en-US" sz="975" dirty="0"/>
          </a:p>
        </p:txBody>
      </p:sp>
      <p:sp>
        <p:nvSpPr>
          <p:cNvPr id="73" name="Text 57"/>
          <p:cNvSpPr/>
          <p:nvPr/>
        </p:nvSpPr>
        <p:spPr>
          <a:xfrm>
            <a:off x="12630150" y="10016012"/>
            <a:ext cx="361950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10:34</a:t>
            </a:r>
            <a:endParaRPr lang="en-US" sz="750" dirty="0"/>
          </a:p>
        </p:txBody>
      </p:sp>
      <p:pic>
        <p:nvPicPr>
          <p:cNvPr id="7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06075" y="10156985"/>
            <a:ext cx="104775" cy="104775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10658475" y="10150952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Vos · dispatcher</a:t>
            </a:r>
            <a:endParaRPr lang="en-US" sz="825" dirty="0"/>
          </a:p>
        </p:txBody>
      </p:sp>
      <p:sp>
        <p:nvSpPr>
          <p:cNvPr id="76" name="Shape 59"/>
          <p:cNvSpPr/>
          <p:nvPr/>
        </p:nvSpPr>
        <p:spPr>
          <a:xfrm>
            <a:off x="10506075" y="10353675"/>
            <a:ext cx="2409825" cy="549910"/>
          </a:xfrm>
          <a:prstGeom prst="roundRect">
            <a:avLst>
              <a:gd name="adj" fmla="val 17321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sp>
        <p:nvSpPr>
          <p:cNvPr id="77" name="Text 60"/>
          <p:cNvSpPr/>
          <p:nvPr/>
        </p:nvSpPr>
        <p:spPr>
          <a:xfrm>
            <a:off x="10631012" y="10450036"/>
            <a:ext cx="2236152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patrol unit has been notified and is being assigned.</a:t>
            </a:r>
            <a:endParaRPr lang="en-US" sz="938" dirty="0"/>
          </a:p>
        </p:txBody>
      </p:sp>
      <p:sp>
        <p:nvSpPr>
          <p:cNvPr id="78" name="Shape 61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79" name="Shape 62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80" name="Shape 63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81" name="Shape 64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82" name="Text 65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3844291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251964"/>
            <a:ext cx="824103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status → update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199701"/>
            <a:ext cx="824103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Tapping the status opens a popup to set a new status and send a note to the road user — every change is logged to the audit history.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24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2385375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53700" y="2305687"/>
            <a:ext cx="748347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553700" y="2538571"/>
            <a:ext cx="20764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u-204 · 9m ago</a:t>
            </a:r>
            <a:endParaRPr lang="en-US" sz="788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75" y="2385375"/>
            <a:ext cx="190500" cy="1905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039350" y="2743200"/>
            <a:ext cx="3048000" cy="546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10210800" y="2914650"/>
            <a:ext cx="1098550" cy="265430"/>
          </a:xfrm>
          <a:prstGeom prst="roundRect">
            <a:avLst>
              <a:gd name="adj" fmla="val 28708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161" y="2975925"/>
            <a:ext cx="142875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6711" y="2972912"/>
            <a:ext cx="5629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938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9639" y="2975925"/>
            <a:ext cx="142875" cy="14287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591925" y="2914650"/>
            <a:ext cx="1323975" cy="265430"/>
          </a:xfrm>
          <a:prstGeom prst="roundRect">
            <a:avLst>
              <a:gd name="adj" fmla="val 32297"/>
            </a:avLst>
          </a:prstGeom>
          <a:solidFill>
            <a:srgbClr val="FBF0D9"/>
          </a:solidFill>
          <a:ln w="10636">
            <a:solidFill>
              <a:srgbClr val="B7791F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4171C">
                <a:alpha val="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1707337" y="3018788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5" name="Text 17"/>
          <p:cNvSpPr/>
          <p:nvPr/>
        </p:nvSpPr>
        <p:spPr>
          <a:xfrm>
            <a:off x="11831162" y="2972912"/>
            <a:ext cx="8550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18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6189" y="2975925"/>
            <a:ext cx="142875" cy="1428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210800" y="3332480"/>
            <a:ext cx="2786253" cy="89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43"/>
              </a:lnSpc>
              <a:buNone/>
            </a:pPr>
            <a:r>
              <a:rPr lang="en-US" sz="108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 between two cars on the exit ramp. No injuries reported. The right lane is partially blocked and traffic is building up behind the incident.</a:t>
            </a:r>
            <a:endParaRPr lang="en-US" sz="1088" dirty="0"/>
          </a:p>
        </p:txBody>
      </p:sp>
      <p:sp>
        <p:nvSpPr>
          <p:cNvPr id="28" name="Shape 19"/>
          <p:cNvSpPr/>
          <p:nvPr/>
        </p:nvSpPr>
        <p:spPr>
          <a:xfrm>
            <a:off x="10210800" y="4359911"/>
            <a:ext cx="2705100" cy="1390650"/>
          </a:xfrm>
          <a:prstGeom prst="roundRect">
            <a:avLst>
              <a:gd name="adj" fmla="val 8219"/>
            </a:avLst>
          </a:prstGeom>
          <a:solidFill>
            <a:srgbClr val="C6CDD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10210800" y="5922011"/>
            <a:ext cx="2705100" cy="502920"/>
          </a:xfrm>
          <a:prstGeom prst="roundRect">
            <a:avLst>
              <a:gd name="adj" fmla="val 22727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5261" y="6087749"/>
            <a:ext cx="171450" cy="1714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611962" y="6046943"/>
            <a:ext cx="1147763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750" dirty="0"/>
          </a:p>
        </p:txBody>
      </p:sp>
      <p:sp>
        <p:nvSpPr>
          <p:cNvPr id="32" name="Text 22"/>
          <p:cNvSpPr/>
          <p:nvPr/>
        </p:nvSpPr>
        <p:spPr>
          <a:xfrm>
            <a:off x="10611962" y="6172358"/>
            <a:ext cx="1147763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52.1009, 5.1758</a:t>
            </a:r>
            <a:endParaRPr lang="en-US" sz="938" dirty="0"/>
          </a:p>
        </p:txBody>
      </p:sp>
      <p:sp>
        <p:nvSpPr>
          <p:cNvPr id="33" name="Shape 23"/>
          <p:cNvSpPr/>
          <p:nvPr/>
        </p:nvSpPr>
        <p:spPr>
          <a:xfrm>
            <a:off x="10210800" y="6558279"/>
            <a:ext cx="2705100" cy="774382"/>
          </a:xfrm>
          <a:prstGeom prst="roundRect">
            <a:avLst>
              <a:gd name="adj" fmla="val 14760"/>
            </a:avLst>
          </a:prstGeom>
          <a:solidFill>
            <a:srgbClr val="FBEDE2"/>
          </a:solidFill>
          <a:ln w="10636">
            <a:solidFill>
              <a:srgbClr val="F3D8C2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10354786" y="6683220"/>
            <a:ext cx="2493327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NOTE</a:t>
            </a:r>
            <a:endParaRPr lang="en-US" sz="750" dirty="0"/>
          </a:p>
        </p:txBody>
      </p:sp>
      <p:sp>
        <p:nvSpPr>
          <p:cNvPr id="35" name="Text 25"/>
          <p:cNvSpPr/>
          <p:nvPr/>
        </p:nvSpPr>
        <p:spPr>
          <a:xfrm>
            <a:off x="10354786" y="6827676"/>
            <a:ext cx="2493327" cy="41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patrol unit has been notified and is being assigned.</a:t>
            </a:r>
            <a:endParaRPr lang="en-US" sz="998" dirty="0"/>
          </a:p>
        </p:txBody>
      </p:sp>
      <p:sp>
        <p:nvSpPr>
          <p:cNvPr id="36" name="Shape 26"/>
          <p:cNvSpPr/>
          <p:nvPr/>
        </p:nvSpPr>
        <p:spPr>
          <a:xfrm>
            <a:off x="10039350" y="2743200"/>
            <a:ext cx="3048000" cy="5467350"/>
          </a:xfrm>
          <a:prstGeom prst="rect">
            <a:avLst/>
          </a:prstGeom>
          <a:solidFill>
            <a:srgbClr val="14171C">
              <a:alpha val="45000"/>
            </a:srgbClr>
          </a:solidFill>
          <a:ln/>
        </p:spPr>
      </p:sp>
      <p:sp>
        <p:nvSpPr>
          <p:cNvPr id="37" name="Shape 27"/>
          <p:cNvSpPr/>
          <p:nvPr/>
        </p:nvSpPr>
        <p:spPr>
          <a:xfrm>
            <a:off x="10039350" y="3602357"/>
            <a:ext cx="3048000" cy="4608195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19100" dist="171450" dir="16200000">
              <a:srgbClr val="14171C">
                <a:alpha val="28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11372850" y="3716657"/>
            <a:ext cx="381000" cy="3810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</p:sp>
      <p:sp>
        <p:nvSpPr>
          <p:cNvPr id="39" name="Text 29"/>
          <p:cNvSpPr/>
          <p:nvPr/>
        </p:nvSpPr>
        <p:spPr>
          <a:xfrm>
            <a:off x="10210800" y="3948903"/>
            <a:ext cx="1169035" cy="240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status</a:t>
            </a:r>
            <a:endParaRPr lang="en-US" sz="1275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8250" y="3964307"/>
            <a:ext cx="171450" cy="17145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0210800" y="4240532"/>
            <a:ext cx="2786253" cy="314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· u-204 — sets a new status and logs it to the audit history.</a:t>
            </a:r>
            <a:endParaRPr lang="en-US" sz="938" dirty="0"/>
          </a:p>
        </p:txBody>
      </p:sp>
      <p:sp>
        <p:nvSpPr>
          <p:cNvPr id="42" name="Shape 31"/>
          <p:cNvSpPr/>
          <p:nvPr/>
        </p:nvSpPr>
        <p:spPr>
          <a:xfrm>
            <a:off x="10210800" y="4669473"/>
            <a:ext cx="2705100" cy="390366"/>
          </a:xfrm>
          <a:prstGeom prst="roundRect">
            <a:avLst>
              <a:gd name="adj" fmla="val 26840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10345261" y="4821715"/>
            <a:ext cx="85725" cy="857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33"/>
          <p:cNvSpPr/>
          <p:nvPr/>
        </p:nvSpPr>
        <p:spPr>
          <a:xfrm>
            <a:off x="10526236" y="4784880"/>
            <a:ext cx="233140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13" dirty="0"/>
          </a:p>
        </p:txBody>
      </p:sp>
      <p:sp>
        <p:nvSpPr>
          <p:cNvPr id="45" name="Shape 34"/>
          <p:cNvSpPr/>
          <p:nvPr/>
        </p:nvSpPr>
        <p:spPr>
          <a:xfrm>
            <a:off x="10210800" y="5136040"/>
            <a:ext cx="2705100" cy="390366"/>
          </a:xfrm>
          <a:prstGeom prst="roundRect">
            <a:avLst>
              <a:gd name="adj" fmla="val 26840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10345261" y="5288282"/>
            <a:ext cx="85725" cy="85725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47" name="Text 36"/>
          <p:cNvSpPr/>
          <p:nvPr/>
        </p:nvSpPr>
        <p:spPr>
          <a:xfrm>
            <a:off x="10526236" y="5251447"/>
            <a:ext cx="233140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13" dirty="0"/>
          </a:p>
        </p:txBody>
      </p:sp>
      <p:sp>
        <p:nvSpPr>
          <p:cNvPr id="48" name="Shape 37"/>
          <p:cNvSpPr/>
          <p:nvPr/>
        </p:nvSpPr>
        <p:spPr>
          <a:xfrm>
            <a:off x="10210800" y="5602607"/>
            <a:ext cx="2705100" cy="390366"/>
          </a:xfrm>
          <a:prstGeom prst="roundRect">
            <a:avLst>
              <a:gd name="adj" fmla="val 26840"/>
            </a:avLst>
          </a:prstGeom>
          <a:solidFill>
            <a:srgbClr val="F0E9FD"/>
          </a:solidFill>
          <a:ln w="10636">
            <a:solidFill>
              <a:srgbClr val="7C3AED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10345261" y="5754849"/>
            <a:ext cx="85725" cy="8572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39"/>
          <p:cNvSpPr/>
          <p:nvPr/>
        </p:nvSpPr>
        <p:spPr>
          <a:xfrm>
            <a:off x="10526236" y="5718014"/>
            <a:ext cx="208375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</a:t>
            </a:r>
            <a:endParaRPr lang="en-US" sz="1013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29039" y="5721511"/>
            <a:ext cx="152400" cy="152400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10210800" y="6069174"/>
            <a:ext cx="2705100" cy="390366"/>
          </a:xfrm>
          <a:prstGeom prst="roundRect">
            <a:avLst>
              <a:gd name="adj" fmla="val 26840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10345261" y="6221416"/>
            <a:ext cx="85725" cy="85725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54" name="Text 42"/>
          <p:cNvSpPr/>
          <p:nvPr/>
        </p:nvSpPr>
        <p:spPr>
          <a:xfrm>
            <a:off x="10526236" y="6184581"/>
            <a:ext cx="233140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13" dirty="0"/>
          </a:p>
        </p:txBody>
      </p:sp>
      <p:sp>
        <p:nvSpPr>
          <p:cNvPr id="55" name="Text 43"/>
          <p:cNvSpPr/>
          <p:nvPr/>
        </p:nvSpPr>
        <p:spPr>
          <a:xfrm>
            <a:off x="10210800" y="6602416"/>
            <a:ext cx="198310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TO ROAD USER · OPTIONAL</a:t>
            </a:r>
            <a:endParaRPr lang="en-US" sz="825" dirty="0"/>
          </a:p>
        </p:txBody>
      </p:sp>
      <p:sp>
        <p:nvSpPr>
          <p:cNvPr id="56" name="Shape 44"/>
          <p:cNvSpPr/>
          <p:nvPr/>
        </p:nvSpPr>
        <p:spPr>
          <a:xfrm>
            <a:off x="10210800" y="6786088"/>
            <a:ext cx="2705100" cy="66675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>
            <a:off x="10345262" y="6911024"/>
            <a:ext cx="2517330" cy="45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unit dispatched, ETA 15 minutes. Please stay in your vehicle.</a:t>
            </a:r>
            <a:endParaRPr lang="en-US" sz="1013" dirty="0"/>
          </a:p>
        </p:txBody>
      </p:sp>
      <p:sp>
        <p:nvSpPr>
          <p:cNvPr id="58" name="Shape 46"/>
          <p:cNvSpPr/>
          <p:nvPr/>
        </p:nvSpPr>
        <p:spPr>
          <a:xfrm>
            <a:off x="10210800" y="7610633"/>
            <a:ext cx="2705100" cy="428466"/>
          </a:xfrm>
          <a:prstGeom prst="roundRect">
            <a:avLst>
              <a:gd name="adj" fmla="val 26677"/>
            </a:avLst>
          </a:prstGeom>
          <a:solidFill>
            <a:srgbClr val="E0590B"/>
          </a:solidFill>
          <a:ln/>
          <a:effectLst>
            <a:outerShdw sx="100000" sy="100000" kx="0" ky="0" algn="bl" rotWithShape="0" blurRad="152400" dist="57150" dir="5400000">
              <a:srgbClr val="E0590B">
                <a:alpha val="28000"/>
              </a:srgbClr>
            </a:outerShdw>
          </a:effectLst>
        </p:spPr>
      </p:sp>
      <p:sp>
        <p:nvSpPr>
          <p:cNvPr id="59" name="Text 47"/>
          <p:cNvSpPr/>
          <p:nvPr/>
        </p:nvSpPr>
        <p:spPr>
          <a:xfrm>
            <a:off x="10341674" y="7734458"/>
            <a:ext cx="2443353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update</a:t>
            </a:r>
            <a:endParaRPr lang="en-US" sz="1088" dirty="0"/>
          </a:p>
        </p:txBody>
      </p:sp>
      <p:sp>
        <p:nvSpPr>
          <p:cNvPr id="60" name="Shape 48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61" name="Shape 49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62" name="Shape 50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64" name="Text 52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3701411"/>
            <a:ext cx="824103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ANDROID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109089"/>
            <a:ext cx="824103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50" b="1" spc="-105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category → re-classify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5756914"/>
            <a:ext cx="824103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Tapping the category opens a dropdown so the dispatcher can re-classify an incident.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963150" y="1790700"/>
            <a:ext cx="3200400" cy="6705600"/>
          </a:xfrm>
          <a:prstGeom prst="roundRect">
            <a:avLst>
              <a:gd name="adj" fmla="val 13690"/>
            </a:avLst>
          </a:prstGeom>
          <a:solidFill>
            <a:srgbClr val="15171C"/>
          </a:solidFill>
          <a:ln/>
          <a:effectLst>
            <a:outerShdw sx="100000" sy="100000" kx="0" ky="0" algn="bl" rotWithShape="0" blurRad="571500" dist="228600" dir="5400000">
              <a:srgbClr val="14171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39350" y="1866900"/>
            <a:ext cx="3048000" cy="6553200"/>
          </a:xfrm>
          <a:prstGeom prst="roundRect">
            <a:avLst>
              <a:gd name="adj" fmla="val 1187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10248900" y="1968019"/>
            <a:ext cx="33861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1191875" y="1952625"/>
            <a:ext cx="742950" cy="209550"/>
          </a:xfrm>
          <a:prstGeom prst="roundRect">
            <a:avLst>
              <a:gd name="adj" fmla="val 50000"/>
            </a:avLst>
          </a:prstGeom>
          <a:solidFill>
            <a:srgbClr val="1517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0" y="1995487"/>
            <a:ext cx="161925" cy="104775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0" y="1990725"/>
            <a:ext cx="228600" cy="114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39350" y="2228850"/>
            <a:ext cx="3048000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10039350" y="2732564"/>
            <a:ext cx="3048000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2385380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53700" y="2305683"/>
            <a:ext cx="748347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553700" y="2538571"/>
            <a:ext cx="20764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u-204 · 9m ago</a:t>
            </a:r>
            <a:endParaRPr lang="en-US" sz="788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75" y="2385380"/>
            <a:ext cx="190500" cy="1905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039350" y="2743200"/>
            <a:ext cx="3048000" cy="546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10210800" y="2914650"/>
            <a:ext cx="1098550" cy="265430"/>
          </a:xfrm>
          <a:prstGeom prst="roundRect">
            <a:avLst>
              <a:gd name="adj" fmla="val 28708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161" y="2975930"/>
            <a:ext cx="142875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6711" y="2972907"/>
            <a:ext cx="5629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938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9639" y="2975930"/>
            <a:ext cx="142875" cy="14287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591925" y="2914650"/>
            <a:ext cx="1323975" cy="265430"/>
          </a:xfrm>
          <a:prstGeom prst="roundRect">
            <a:avLst>
              <a:gd name="adj" fmla="val 32297"/>
            </a:avLst>
          </a:prstGeom>
          <a:solidFill>
            <a:srgbClr val="FBF0D9"/>
          </a:solidFill>
          <a:ln w="10636">
            <a:solidFill>
              <a:srgbClr val="B7791F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4171C">
                <a:alpha val="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1707337" y="3018792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5" name="Text 17"/>
          <p:cNvSpPr/>
          <p:nvPr/>
        </p:nvSpPr>
        <p:spPr>
          <a:xfrm>
            <a:off x="11831162" y="2972907"/>
            <a:ext cx="8550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18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6189" y="2975930"/>
            <a:ext cx="142875" cy="1428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210800" y="3332476"/>
            <a:ext cx="2786253" cy="89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43"/>
              </a:lnSpc>
              <a:buNone/>
            </a:pPr>
            <a:r>
              <a:rPr lang="en-US" sz="108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 between two cars on the exit ramp. No injuries reported. The right lane is partially blocked and traffic is building up behind the incident.</a:t>
            </a:r>
            <a:endParaRPr lang="en-US" sz="1088" dirty="0"/>
          </a:p>
        </p:txBody>
      </p:sp>
      <p:sp>
        <p:nvSpPr>
          <p:cNvPr id="28" name="Shape 19"/>
          <p:cNvSpPr/>
          <p:nvPr/>
        </p:nvSpPr>
        <p:spPr>
          <a:xfrm>
            <a:off x="10210800" y="4359911"/>
            <a:ext cx="2705100" cy="1390650"/>
          </a:xfrm>
          <a:prstGeom prst="roundRect">
            <a:avLst>
              <a:gd name="adj" fmla="val 8219"/>
            </a:avLst>
          </a:prstGeom>
          <a:solidFill>
            <a:srgbClr val="C6CDD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10210800" y="5922011"/>
            <a:ext cx="2705100" cy="502920"/>
          </a:xfrm>
          <a:prstGeom prst="roundRect">
            <a:avLst>
              <a:gd name="adj" fmla="val 22727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5261" y="6087749"/>
            <a:ext cx="171450" cy="1714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611962" y="6046943"/>
            <a:ext cx="1147763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750" dirty="0"/>
          </a:p>
        </p:txBody>
      </p:sp>
      <p:sp>
        <p:nvSpPr>
          <p:cNvPr id="32" name="Text 22"/>
          <p:cNvSpPr/>
          <p:nvPr/>
        </p:nvSpPr>
        <p:spPr>
          <a:xfrm>
            <a:off x="10611962" y="6172358"/>
            <a:ext cx="1147763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52.1009, 5.1758</a:t>
            </a:r>
            <a:endParaRPr lang="en-US" sz="938" dirty="0"/>
          </a:p>
        </p:txBody>
      </p:sp>
      <p:sp>
        <p:nvSpPr>
          <p:cNvPr id="33" name="Shape 23"/>
          <p:cNvSpPr/>
          <p:nvPr/>
        </p:nvSpPr>
        <p:spPr>
          <a:xfrm>
            <a:off x="10210800" y="6558279"/>
            <a:ext cx="2705100" cy="774382"/>
          </a:xfrm>
          <a:prstGeom prst="roundRect">
            <a:avLst>
              <a:gd name="adj" fmla="val 14760"/>
            </a:avLst>
          </a:prstGeom>
          <a:solidFill>
            <a:srgbClr val="FBEDE2"/>
          </a:solidFill>
          <a:ln w="10636">
            <a:solidFill>
              <a:srgbClr val="F3D8C2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10354786" y="6683220"/>
            <a:ext cx="2493327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NOTE</a:t>
            </a:r>
            <a:endParaRPr lang="en-US" sz="750" dirty="0"/>
          </a:p>
        </p:txBody>
      </p:sp>
      <p:sp>
        <p:nvSpPr>
          <p:cNvPr id="35" name="Text 25"/>
          <p:cNvSpPr/>
          <p:nvPr/>
        </p:nvSpPr>
        <p:spPr>
          <a:xfrm>
            <a:off x="10354786" y="6827676"/>
            <a:ext cx="2493327" cy="41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patrol unit has been notified and is being assigned.</a:t>
            </a:r>
            <a:endParaRPr lang="en-US" sz="998" dirty="0"/>
          </a:p>
        </p:txBody>
      </p:sp>
      <p:sp>
        <p:nvSpPr>
          <p:cNvPr id="36" name="Shape 26"/>
          <p:cNvSpPr/>
          <p:nvPr/>
        </p:nvSpPr>
        <p:spPr>
          <a:xfrm>
            <a:off x="10039350" y="2743200"/>
            <a:ext cx="3048000" cy="5467350"/>
          </a:xfrm>
          <a:prstGeom prst="rect">
            <a:avLst/>
          </a:prstGeom>
          <a:solidFill>
            <a:srgbClr val="14171C">
              <a:alpha val="32000"/>
            </a:srgbClr>
          </a:solidFill>
          <a:ln/>
        </p:spPr>
      </p:sp>
      <p:sp>
        <p:nvSpPr>
          <p:cNvPr id="37" name="Shape 27"/>
          <p:cNvSpPr/>
          <p:nvPr/>
        </p:nvSpPr>
        <p:spPr>
          <a:xfrm>
            <a:off x="10191750" y="3333750"/>
            <a:ext cx="2133600" cy="18135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419100" dist="152400" dir="5400000">
              <a:srgbClr val="14171C">
                <a:alpha val="26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 rot="2700000">
            <a:off x="10450036" y="3277716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29"/>
          <p:cNvSpPr/>
          <p:nvPr/>
        </p:nvSpPr>
        <p:spPr>
          <a:xfrm rot="2700000">
            <a:off x="10486687" y="3292897"/>
            <a:ext cx="114300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0" name="Shape 30"/>
          <p:cNvSpPr/>
          <p:nvPr/>
        </p:nvSpPr>
        <p:spPr>
          <a:xfrm rot="2700000">
            <a:off x="10465217" y="3241065"/>
            <a:ext cx="10636" cy="11430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1" name="Text 31"/>
          <p:cNvSpPr/>
          <p:nvPr/>
        </p:nvSpPr>
        <p:spPr>
          <a:xfrm>
            <a:off x="10354786" y="3458682"/>
            <a:ext cx="1883727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CATEGORY</a:t>
            </a:r>
            <a:endParaRPr lang="en-US" sz="75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3836" y="3717448"/>
            <a:ext cx="171450" cy="17145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0640537" y="3723326"/>
            <a:ext cx="1578927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44" name="Shape 33"/>
          <p:cNvSpPr/>
          <p:nvPr/>
        </p:nvSpPr>
        <p:spPr>
          <a:xfrm>
            <a:off x="10278586" y="3993673"/>
            <a:ext cx="1959927" cy="342900"/>
          </a:xfrm>
          <a:prstGeom prst="roundRect">
            <a:avLst>
              <a:gd name="adj" fmla="val 25000"/>
            </a:avLst>
          </a:prstGeom>
          <a:solidFill>
            <a:srgbClr val="FBEDE2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3836" y="4079398"/>
            <a:ext cx="171450" cy="17145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0640537" y="4085276"/>
            <a:ext cx="1331277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9C3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1013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0864" y="4088923"/>
            <a:ext cx="152400" cy="152400"/>
          </a:xfrm>
          <a:prstGeom prst="rect">
            <a:avLst/>
          </a:prstGeom>
        </p:spPr>
      </p:pic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73836" y="4441348"/>
            <a:ext cx="171450" cy="17145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0640537" y="4447226"/>
            <a:ext cx="1578927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</a:t>
            </a:r>
            <a:endParaRPr lang="en-US" sz="1013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73836" y="4803298"/>
            <a:ext cx="171450" cy="17145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10640537" y="4809176"/>
            <a:ext cx="1578927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013" dirty="0"/>
          </a:p>
        </p:txBody>
      </p:sp>
      <p:sp>
        <p:nvSpPr>
          <p:cNvPr id="52" name="Shape 37"/>
          <p:cNvSpPr/>
          <p:nvPr/>
        </p:nvSpPr>
        <p:spPr>
          <a:xfrm>
            <a:off x="10991850" y="8293894"/>
            <a:ext cx="1143000" cy="42863"/>
          </a:xfrm>
          <a:prstGeom prst="roundRect">
            <a:avLst>
              <a:gd name="adj" fmla="val 49999"/>
            </a:avLst>
          </a:prstGeom>
          <a:solidFill>
            <a:srgbClr val="15171C">
              <a:alpha val="28000"/>
            </a:srgbClr>
          </a:solidFill>
          <a:ln/>
        </p:spPr>
      </p:sp>
      <p:sp>
        <p:nvSpPr>
          <p:cNvPr id="53" name="Shape 38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54" name="Shape 39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56" name="Text 41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09600"/>
            <a:ext cx="9120237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· WEB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979168"/>
            <a:ext cx="9120237" cy="5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12"/>
              </a:lnSpc>
              <a:buNone/>
            </a:pPr>
            <a:r>
              <a:rPr lang="en-US" sz="4050" b="1" spc="-8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647509"/>
            <a:ext cx="912023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expanded sign-in pairs the report-to-resolution promise with the credential form.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524250" y="2339336"/>
            <a:ext cx="11239500" cy="7162800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0" dist="285750" dir="5400000">
              <a:srgbClr val="14171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34886" y="2349977"/>
            <a:ext cx="11218227" cy="4000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3534886" y="2739391"/>
            <a:ext cx="11218227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" name="Shape 7"/>
          <p:cNvSpPr/>
          <p:nvPr/>
        </p:nvSpPr>
        <p:spPr>
          <a:xfrm>
            <a:off x="3687286" y="2487457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3877786" y="2487457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68286" y="2487457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171380" y="2464910"/>
            <a:ext cx="992619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0" kern="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RoadAssist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534886" y="2750027"/>
            <a:ext cx="5160327" cy="6741477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14" name="Shape 12"/>
          <p:cNvSpPr/>
          <p:nvPr/>
        </p:nvSpPr>
        <p:spPr>
          <a:xfrm>
            <a:off x="3953986" y="3207227"/>
            <a:ext cx="400050" cy="40005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5905" y="3319146"/>
            <a:ext cx="176054" cy="176054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24007" y="3377245"/>
            <a:ext cx="60008" cy="6000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34886" y="6255544"/>
            <a:ext cx="5160327" cy="21272"/>
          </a:xfrm>
          <a:prstGeom prst="rect">
            <a:avLst/>
          </a:prstGeom>
          <a:solidFill>
            <a:srgbClr val="E0590B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953986" y="5463062"/>
            <a:ext cx="4451791" cy="819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982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on the way, faster.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3953986" y="6397144"/>
            <a:ext cx="2943225" cy="70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 breakdown with your location and a photo. Dispatchers triage every report and keep you updated.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953986" y="8917307"/>
            <a:ext cx="4451791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· DESKTOP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8695214" y="2750027"/>
            <a:ext cx="6057900" cy="67414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0164" y="4785206"/>
            <a:ext cx="3139440" cy="325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00164" y="5129529"/>
            <a:ext cx="313944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RoadAssist credentials.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10200164" y="5536723"/>
            <a:ext cx="6210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10200164" y="5720395"/>
            <a:ext cx="3048000" cy="409416"/>
          </a:xfrm>
          <a:prstGeom prst="roundRect">
            <a:avLst>
              <a:gd name="adj" fmla="val 25591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0164" y="6282212"/>
            <a:ext cx="6210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0200164" y="6465884"/>
            <a:ext cx="3048000" cy="409416"/>
          </a:xfrm>
          <a:prstGeom prst="roundRect">
            <a:avLst>
              <a:gd name="adj" fmla="val 25591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00164" y="7027701"/>
            <a:ext cx="3048000" cy="428466"/>
          </a:xfrm>
          <a:prstGeom prst="roundRect">
            <a:avLst>
              <a:gd name="adj" fmla="val 26677"/>
            </a:avLst>
          </a:prstGeom>
          <a:solidFill>
            <a:srgbClr val="E0590B"/>
          </a:solidFill>
          <a:ln/>
          <a:effectLst>
            <a:outerShdw sx="100000" sy="100000" kx="0" ky="0" algn="bl" rotWithShape="0" blurRad="152400" dist="57150" dir="5400000">
              <a:srgbClr val="E0590B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325894" y="7151526"/>
            <a:ext cx="279654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088" dirty="0"/>
          </a:p>
        </p:txBody>
      </p:sp>
      <p:sp>
        <p:nvSpPr>
          <p:cNvPr id="30" name="Shape 28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09600"/>
            <a:ext cx="12583105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· WEB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979168"/>
            <a:ext cx="12583105" cy="5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12"/>
              </a:lnSpc>
              <a:buNone/>
            </a:pPr>
            <a:r>
              <a:rPr lang="en-US" sz="4050" b="1" spc="-8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incidents — Road user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647509"/>
            <a:ext cx="1258310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desktop the road user gets a navigation rail and a list–detail split, with the activity timeline alongside the incident.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524250" y="2339336"/>
            <a:ext cx="11239500" cy="7162800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0" dist="285750" dir="5400000">
              <a:srgbClr val="14171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34886" y="2349977"/>
            <a:ext cx="11218227" cy="4000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3534886" y="2739391"/>
            <a:ext cx="11218227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" name="Shape 7"/>
          <p:cNvSpPr/>
          <p:nvPr/>
        </p:nvSpPr>
        <p:spPr>
          <a:xfrm>
            <a:off x="3687286" y="2487457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3877786" y="2487457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68286" y="2487457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171380" y="2464910"/>
            <a:ext cx="992619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0" kern="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RoadAssist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534886" y="2750027"/>
            <a:ext cx="800100" cy="674147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4350" y="2750027"/>
            <a:ext cx="10636" cy="674147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58089" y="2921477"/>
            <a:ext cx="342900" cy="34290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54132" y="3017518"/>
            <a:ext cx="150812" cy="150812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03821" y="3067208"/>
            <a:ext cx="51435" cy="51435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710464" y="3512027"/>
            <a:ext cx="438150" cy="381000"/>
          </a:xfrm>
          <a:prstGeom prst="roundRect">
            <a:avLst>
              <a:gd name="adj" fmla="val 32500"/>
            </a:avLst>
          </a:prstGeom>
          <a:solidFill>
            <a:srgbClr val="FBEDE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764" y="3597752"/>
            <a:ext cx="209550" cy="2095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784124" y="3931127"/>
            <a:ext cx="367030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9C3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788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64" y="4326573"/>
            <a:ext cx="209550" cy="2095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64756" y="4659948"/>
            <a:ext cx="405765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88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289" y="8996995"/>
            <a:ext cx="190500" cy="1905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334986" y="2750027"/>
            <a:ext cx="10418127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334986" y="3310891"/>
            <a:ext cx="10418127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6" name="Text 21"/>
          <p:cNvSpPr/>
          <p:nvPr/>
        </p:nvSpPr>
        <p:spPr>
          <a:xfrm>
            <a:off x="4544536" y="2908139"/>
            <a:ext cx="7601042" cy="28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incidents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2057539" y="2853054"/>
            <a:ext cx="1025684" cy="354647"/>
          </a:xfrm>
          <a:prstGeom prst="roundRect">
            <a:avLst>
              <a:gd name="adj" fmla="val 29543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575" y="2949420"/>
            <a:ext cx="161925" cy="1619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420600" y="2950527"/>
            <a:ext cx="537686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1013" dirty="0"/>
          </a:p>
        </p:txBody>
      </p:sp>
      <p:sp>
        <p:nvSpPr>
          <p:cNvPr id="30" name="Shape 24"/>
          <p:cNvSpPr/>
          <p:nvPr/>
        </p:nvSpPr>
        <p:spPr>
          <a:xfrm>
            <a:off x="13216573" y="2863695"/>
            <a:ext cx="1326991" cy="333375"/>
          </a:xfrm>
          <a:prstGeom prst="roundRect">
            <a:avLst>
              <a:gd name="adj" fmla="val 31429"/>
            </a:avLst>
          </a:prstGeom>
          <a:solidFill>
            <a:srgbClr val="E0590B"/>
          </a:solidFill>
          <a:ln/>
          <a:effectLst>
            <a:outerShdw sx="100000" sy="100000" kx="0" ky="0" algn="bl" rotWithShape="0" blurRad="114300" dist="38100" dir="5400000">
              <a:srgbClr val="E0590B">
                <a:alpha val="2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8973" y="2949420"/>
            <a:ext cx="161925" cy="16192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568998" y="2950527"/>
            <a:ext cx="860266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incident</a:t>
            </a:r>
            <a:endParaRPr lang="en-US" sz="1013" dirty="0"/>
          </a:p>
        </p:txBody>
      </p:sp>
      <p:sp>
        <p:nvSpPr>
          <p:cNvPr id="33" name="Shape 26"/>
          <p:cNvSpPr/>
          <p:nvPr/>
        </p:nvSpPr>
        <p:spPr>
          <a:xfrm>
            <a:off x="4334986" y="3321527"/>
            <a:ext cx="3619500" cy="61699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7943850" y="3321527"/>
            <a:ext cx="10636" cy="616997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Shape 28"/>
          <p:cNvSpPr/>
          <p:nvPr/>
        </p:nvSpPr>
        <p:spPr>
          <a:xfrm>
            <a:off x="4334986" y="3321527"/>
            <a:ext cx="3608864" cy="1040289"/>
          </a:xfrm>
          <a:prstGeom prst="rect">
            <a:avLst/>
          </a:prstGeom>
          <a:solidFill>
            <a:srgbClr val="FBEDE2"/>
          </a:solidFill>
          <a:ln/>
        </p:spPr>
      </p:sp>
      <p:sp>
        <p:nvSpPr>
          <p:cNvPr id="36" name="Shape 29"/>
          <p:cNvSpPr/>
          <p:nvPr/>
        </p:nvSpPr>
        <p:spPr>
          <a:xfrm>
            <a:off x="4334986" y="4351180"/>
            <a:ext cx="36088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7" name="Shape 30"/>
          <p:cNvSpPr/>
          <p:nvPr/>
        </p:nvSpPr>
        <p:spPr>
          <a:xfrm>
            <a:off x="4487386" y="3445352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7874" y="3535840"/>
            <a:ext cx="180975" cy="18097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973161" y="3445352"/>
            <a:ext cx="77978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</a:t>
            </a:r>
            <a:endParaRPr lang="en-US" sz="1013" dirty="0"/>
          </a:p>
        </p:txBody>
      </p:sp>
      <p:sp>
        <p:nvSpPr>
          <p:cNvPr id="40" name="Text 32"/>
          <p:cNvSpPr/>
          <p:nvPr/>
        </p:nvSpPr>
        <p:spPr>
          <a:xfrm>
            <a:off x="7665720" y="3487899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</a:t>
            </a:r>
            <a:endParaRPr lang="en-US" sz="825" dirty="0"/>
          </a:p>
        </p:txBody>
      </p:sp>
      <p:sp>
        <p:nvSpPr>
          <p:cNvPr id="41" name="Text 33"/>
          <p:cNvSpPr/>
          <p:nvPr/>
        </p:nvSpPr>
        <p:spPr>
          <a:xfrm>
            <a:off x="4973161" y="3633471"/>
            <a:ext cx="2902837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branch across the carriageway after the storm. Hazard for traffic.</a:t>
            </a:r>
            <a:endParaRPr lang="en-US" sz="960" dirty="0"/>
          </a:p>
        </p:txBody>
      </p:sp>
      <p:sp>
        <p:nvSpPr>
          <p:cNvPr id="42" name="Shape 34"/>
          <p:cNvSpPr/>
          <p:nvPr/>
        </p:nvSpPr>
        <p:spPr>
          <a:xfrm>
            <a:off x="4973161" y="4050981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F0E9FD"/>
          </a:solidFill>
          <a:ln/>
        </p:spPr>
      </p:sp>
      <p:sp>
        <p:nvSpPr>
          <p:cNvPr id="43" name="Shape 35"/>
          <p:cNvSpPr/>
          <p:nvPr/>
        </p:nvSpPr>
        <p:spPr>
          <a:xfrm>
            <a:off x="5049361" y="4110512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36"/>
          <p:cNvSpPr/>
          <p:nvPr/>
        </p:nvSpPr>
        <p:spPr>
          <a:xfrm>
            <a:off x="5163661" y="4070031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825" dirty="0"/>
          </a:p>
        </p:txBody>
      </p:sp>
      <p:sp>
        <p:nvSpPr>
          <p:cNvPr id="45" name="Shape 37"/>
          <p:cNvSpPr/>
          <p:nvPr/>
        </p:nvSpPr>
        <p:spPr>
          <a:xfrm>
            <a:off x="4334986" y="4361817"/>
            <a:ext cx="3608864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8"/>
          <p:cNvSpPr/>
          <p:nvPr/>
        </p:nvSpPr>
        <p:spPr>
          <a:xfrm>
            <a:off x="4334986" y="5391470"/>
            <a:ext cx="36088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7" name="Shape 39"/>
          <p:cNvSpPr/>
          <p:nvPr/>
        </p:nvSpPr>
        <p:spPr>
          <a:xfrm>
            <a:off x="4487386" y="4485642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7874" y="4576130"/>
            <a:ext cx="180975" cy="180975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973161" y="4485642"/>
            <a:ext cx="60182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1013" dirty="0"/>
          </a:p>
        </p:txBody>
      </p:sp>
      <p:sp>
        <p:nvSpPr>
          <p:cNvPr id="50" name="Text 41"/>
          <p:cNvSpPr/>
          <p:nvPr/>
        </p:nvSpPr>
        <p:spPr>
          <a:xfrm>
            <a:off x="7665720" y="4528189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4m</a:t>
            </a:r>
            <a:endParaRPr lang="en-US" sz="825" dirty="0"/>
          </a:p>
        </p:txBody>
      </p:sp>
      <p:sp>
        <p:nvSpPr>
          <p:cNvPr id="51" name="Text 42"/>
          <p:cNvSpPr/>
          <p:nvPr/>
        </p:nvSpPr>
        <p:spPr>
          <a:xfrm>
            <a:off x="4973161" y="4673761"/>
            <a:ext cx="2902837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collision, two cars, no injuries. Blocking the right lane near the exit.</a:t>
            </a:r>
            <a:endParaRPr lang="en-US" sz="960" dirty="0"/>
          </a:p>
        </p:txBody>
      </p:sp>
      <p:sp>
        <p:nvSpPr>
          <p:cNvPr id="52" name="Shape 43"/>
          <p:cNvSpPr/>
          <p:nvPr/>
        </p:nvSpPr>
        <p:spPr>
          <a:xfrm>
            <a:off x="4973161" y="5091271"/>
            <a:ext cx="461486" cy="176371"/>
          </a:xfrm>
          <a:prstGeom prst="roundRect">
            <a:avLst>
              <a:gd name="adj" fmla="val 37804"/>
            </a:avLst>
          </a:prstGeom>
          <a:solidFill>
            <a:srgbClr val="E8EFFE"/>
          </a:solidFill>
          <a:ln/>
        </p:spPr>
      </p:sp>
      <p:sp>
        <p:nvSpPr>
          <p:cNvPr id="53" name="Shape 44"/>
          <p:cNvSpPr/>
          <p:nvPr/>
        </p:nvSpPr>
        <p:spPr>
          <a:xfrm>
            <a:off x="5049361" y="5150802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Text 45"/>
          <p:cNvSpPr/>
          <p:nvPr/>
        </p:nvSpPr>
        <p:spPr>
          <a:xfrm>
            <a:off x="5163661" y="5110321"/>
            <a:ext cx="27098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825" dirty="0"/>
          </a:p>
        </p:txBody>
      </p:sp>
      <p:sp>
        <p:nvSpPr>
          <p:cNvPr id="55" name="Shape 46"/>
          <p:cNvSpPr/>
          <p:nvPr/>
        </p:nvSpPr>
        <p:spPr>
          <a:xfrm>
            <a:off x="4334986" y="5402107"/>
            <a:ext cx="3608864" cy="10296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47"/>
          <p:cNvSpPr/>
          <p:nvPr/>
        </p:nvSpPr>
        <p:spPr>
          <a:xfrm>
            <a:off x="4487386" y="5525932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7874" y="5616420"/>
            <a:ext cx="180975" cy="180975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4973161" y="5525932"/>
            <a:ext cx="75406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59" name="Text 49"/>
          <p:cNvSpPr/>
          <p:nvPr/>
        </p:nvSpPr>
        <p:spPr>
          <a:xfrm>
            <a:off x="7665720" y="5568469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</a:t>
            </a:r>
            <a:endParaRPr lang="en-US" sz="825" dirty="0"/>
          </a:p>
        </p:txBody>
      </p:sp>
      <p:sp>
        <p:nvSpPr>
          <p:cNvPr id="60" name="Text 50"/>
          <p:cNvSpPr/>
          <p:nvPr/>
        </p:nvSpPr>
        <p:spPr>
          <a:xfrm>
            <a:off x="4973161" y="5714051"/>
            <a:ext cx="2902837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won't start, smoke from under the hood. Parked on the hard shoulder.</a:t>
            </a:r>
            <a:endParaRPr lang="en-US" sz="960" dirty="0"/>
          </a:p>
        </p:txBody>
      </p:sp>
      <p:sp>
        <p:nvSpPr>
          <p:cNvPr id="61" name="Shape 51"/>
          <p:cNvSpPr/>
          <p:nvPr/>
        </p:nvSpPr>
        <p:spPr>
          <a:xfrm>
            <a:off x="4973161" y="6131561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62" name="Shape 52"/>
          <p:cNvSpPr/>
          <p:nvPr/>
        </p:nvSpPr>
        <p:spPr>
          <a:xfrm>
            <a:off x="5049361" y="6191092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3" name="Text 53"/>
          <p:cNvSpPr/>
          <p:nvPr/>
        </p:nvSpPr>
        <p:spPr>
          <a:xfrm>
            <a:off x="5163661" y="6150611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64" name="Shape 54"/>
          <p:cNvSpPr/>
          <p:nvPr/>
        </p:nvSpPr>
        <p:spPr>
          <a:xfrm>
            <a:off x="7954486" y="3321527"/>
            <a:ext cx="6798627" cy="616997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5" name="Shape 55"/>
          <p:cNvSpPr/>
          <p:nvPr/>
        </p:nvSpPr>
        <p:spPr>
          <a:xfrm>
            <a:off x="8297386" y="3607277"/>
            <a:ext cx="1044257" cy="246380"/>
          </a:xfrm>
          <a:prstGeom prst="roundRect">
            <a:avLst>
              <a:gd name="adj" fmla="val 30928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4222" y="3659032"/>
            <a:ext cx="142875" cy="142875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8584247" y="3656009"/>
            <a:ext cx="727710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</a:t>
            </a:r>
            <a:endParaRPr lang="en-US" sz="938" dirty="0"/>
          </a:p>
        </p:txBody>
      </p:sp>
      <p:sp>
        <p:nvSpPr>
          <p:cNvPr id="68" name="Shape 57"/>
          <p:cNvSpPr/>
          <p:nvPr/>
        </p:nvSpPr>
        <p:spPr>
          <a:xfrm>
            <a:off x="12760166" y="3627434"/>
            <a:ext cx="871220" cy="206057"/>
          </a:xfrm>
          <a:prstGeom prst="roundRect">
            <a:avLst>
              <a:gd name="adj" fmla="val 32358"/>
            </a:avLst>
          </a:prstGeom>
          <a:solidFill>
            <a:srgbClr val="F0E9FD"/>
          </a:solidFill>
          <a:ln/>
        </p:spPr>
      </p:sp>
      <p:sp>
        <p:nvSpPr>
          <p:cNvPr id="69" name="Shape 58"/>
          <p:cNvSpPr/>
          <p:nvPr/>
        </p:nvSpPr>
        <p:spPr>
          <a:xfrm>
            <a:off x="12855416" y="3701895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0" name="Text 59"/>
          <p:cNvSpPr/>
          <p:nvPr/>
        </p:nvSpPr>
        <p:spPr>
          <a:xfrm>
            <a:off x="12969716" y="3656009"/>
            <a:ext cx="642620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900" dirty="0"/>
          </a:p>
        </p:txBody>
      </p:sp>
      <p:sp>
        <p:nvSpPr>
          <p:cNvPr id="71" name="Text 60"/>
          <p:cNvSpPr/>
          <p:nvPr/>
        </p:nvSpPr>
        <p:spPr>
          <a:xfrm>
            <a:off x="8297386" y="4006053"/>
            <a:ext cx="5494020" cy="46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43"/>
              </a:lnSpc>
              <a:buNone/>
            </a:pPr>
            <a:r>
              <a:rPr lang="en-US" sz="108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branch across the carriageway after the storm. About half the lane is blocked and it is a hazard for passing traffic.</a:t>
            </a:r>
            <a:endParaRPr lang="en-US" sz="1088" dirty="0"/>
          </a:p>
        </p:txBody>
      </p:sp>
      <p:sp>
        <p:nvSpPr>
          <p:cNvPr id="72" name="Shape 61"/>
          <p:cNvSpPr/>
          <p:nvPr/>
        </p:nvSpPr>
        <p:spPr>
          <a:xfrm>
            <a:off x="8297386" y="4605496"/>
            <a:ext cx="5334000" cy="1390650"/>
          </a:xfrm>
          <a:prstGeom prst="roundRect">
            <a:avLst>
              <a:gd name="adj" fmla="val 8219"/>
            </a:avLst>
          </a:prstGeom>
          <a:solidFill>
            <a:srgbClr val="C6CDD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8297386" y="6167596"/>
            <a:ext cx="5334000" cy="502920"/>
          </a:xfrm>
          <a:prstGeom prst="roundRect">
            <a:avLst>
              <a:gd name="adj" fmla="val 22727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1847" y="6333334"/>
            <a:ext cx="171450" cy="171450"/>
          </a:xfrm>
          <a:prstGeom prst="rect">
            <a:avLst/>
          </a:prstGeom>
        </p:spPr>
      </p:pic>
      <p:sp>
        <p:nvSpPr>
          <p:cNvPr id="75" name="Text 63"/>
          <p:cNvSpPr/>
          <p:nvPr/>
        </p:nvSpPr>
        <p:spPr>
          <a:xfrm>
            <a:off x="8698547" y="6292537"/>
            <a:ext cx="1147763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750" dirty="0"/>
          </a:p>
        </p:txBody>
      </p:sp>
      <p:sp>
        <p:nvSpPr>
          <p:cNvPr id="76" name="Text 64"/>
          <p:cNvSpPr/>
          <p:nvPr/>
        </p:nvSpPr>
        <p:spPr>
          <a:xfrm>
            <a:off x="8698547" y="6417943"/>
            <a:ext cx="1147763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52.0788, 5.0978</a:t>
            </a:r>
            <a:endParaRPr lang="en-US" sz="938" dirty="0"/>
          </a:p>
        </p:txBody>
      </p:sp>
      <p:sp>
        <p:nvSpPr>
          <p:cNvPr id="77" name="Shape 65"/>
          <p:cNvSpPr/>
          <p:nvPr/>
        </p:nvSpPr>
        <p:spPr>
          <a:xfrm>
            <a:off x="8297386" y="6803864"/>
            <a:ext cx="5334000" cy="774383"/>
          </a:xfrm>
          <a:prstGeom prst="roundRect">
            <a:avLst>
              <a:gd name="adj" fmla="val 14760"/>
            </a:avLst>
          </a:prstGeom>
          <a:solidFill>
            <a:srgbClr val="FBEDE2"/>
          </a:solidFill>
          <a:ln w="10636">
            <a:solidFill>
              <a:srgbClr val="F3D8C2"/>
            </a:solidFill>
            <a:prstDash val="solid"/>
          </a:ln>
        </p:spPr>
      </p:sp>
      <p:sp>
        <p:nvSpPr>
          <p:cNvPr id="78" name="Text 66"/>
          <p:cNvSpPr/>
          <p:nvPr/>
        </p:nvSpPr>
        <p:spPr>
          <a:xfrm>
            <a:off x="8441372" y="6928805"/>
            <a:ext cx="5197408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NOTE</a:t>
            </a:r>
            <a:endParaRPr lang="en-US" sz="750" dirty="0"/>
          </a:p>
        </p:txBody>
      </p:sp>
      <p:sp>
        <p:nvSpPr>
          <p:cNvPr id="79" name="Text 67"/>
          <p:cNvSpPr/>
          <p:nvPr/>
        </p:nvSpPr>
        <p:spPr>
          <a:xfrm>
            <a:off x="8441372" y="7073261"/>
            <a:ext cx="5197408" cy="41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recovery unit has been dispatched and is on the way. Estimated arrival 15–20 minutes. Please stay clear of the carriageway.</a:t>
            </a:r>
            <a:endParaRPr lang="en-US" sz="998" dirty="0"/>
          </a:p>
        </p:txBody>
      </p:sp>
      <p:sp>
        <p:nvSpPr>
          <p:cNvPr id="80" name="Shape 68"/>
          <p:cNvSpPr/>
          <p:nvPr/>
        </p:nvSpPr>
        <p:spPr>
          <a:xfrm>
            <a:off x="8297386" y="7806844"/>
            <a:ext cx="5334000" cy="9525"/>
          </a:xfrm>
          <a:prstGeom prst="rect">
            <a:avLst/>
          </a:prstGeom>
          <a:solidFill>
            <a:srgbClr val="E4E7EC"/>
          </a:solidFill>
          <a:ln/>
        </p:spPr>
      </p:sp>
      <p:pic>
        <p:nvPicPr>
          <p:cNvPr id="8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7386" y="8061638"/>
            <a:ext cx="142875" cy="142875"/>
          </a:xfrm>
          <a:prstGeom prst="rect">
            <a:avLst/>
          </a:prstGeom>
        </p:spPr>
      </p:pic>
      <p:sp>
        <p:nvSpPr>
          <p:cNvPr id="82" name="Text 69"/>
          <p:cNvSpPr/>
          <p:nvPr/>
        </p:nvSpPr>
        <p:spPr>
          <a:xfrm>
            <a:off x="8516461" y="8047992"/>
            <a:ext cx="4516542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1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050" dirty="0"/>
          </a:p>
        </p:txBody>
      </p:sp>
      <p:sp>
        <p:nvSpPr>
          <p:cNvPr id="83" name="Shape 70"/>
          <p:cNvSpPr/>
          <p:nvPr/>
        </p:nvSpPr>
        <p:spPr>
          <a:xfrm>
            <a:off x="12977653" y="8044969"/>
            <a:ext cx="653732" cy="176371"/>
          </a:xfrm>
          <a:prstGeom prst="roundRect">
            <a:avLst>
              <a:gd name="adj" fmla="val 37804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84" name="Text 71"/>
          <p:cNvSpPr/>
          <p:nvPr/>
        </p:nvSpPr>
        <p:spPr>
          <a:xfrm>
            <a:off x="13064490" y="8074656"/>
            <a:ext cx="55626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highlight>
                  <a:srgbClr val="F1F3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788" dirty="0"/>
          </a:p>
        </p:txBody>
      </p:sp>
      <p:sp>
        <p:nvSpPr>
          <p:cNvPr id="85" name="Shape 72"/>
          <p:cNvSpPr/>
          <p:nvPr/>
        </p:nvSpPr>
        <p:spPr>
          <a:xfrm>
            <a:off x="8373586" y="8535674"/>
            <a:ext cx="19050" cy="34321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86" name="Shape 73"/>
          <p:cNvSpPr/>
          <p:nvPr/>
        </p:nvSpPr>
        <p:spPr>
          <a:xfrm>
            <a:off x="8297386" y="8383274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E0590B"/>
            </a:solidFill>
            <a:prstDash val="solid"/>
          </a:ln>
        </p:spPr>
      </p:sp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0249" y="8426137"/>
            <a:ext cx="85725" cy="85725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8592661" y="8364224"/>
            <a:ext cx="106283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reported this</a:t>
            </a:r>
            <a:endParaRPr lang="en-US" sz="975" dirty="0"/>
          </a:p>
        </p:txBody>
      </p:sp>
      <p:sp>
        <p:nvSpPr>
          <p:cNvPr id="89" name="Text 75"/>
          <p:cNvSpPr/>
          <p:nvPr/>
        </p:nvSpPr>
        <p:spPr>
          <a:xfrm>
            <a:off x="13345637" y="8417402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</a:t>
            </a:r>
            <a:endParaRPr lang="en-US" sz="750" dirty="0"/>
          </a:p>
        </p:txBody>
      </p:sp>
      <p:pic>
        <p:nvPicPr>
          <p:cNvPr id="9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2661" y="8558371"/>
            <a:ext cx="104775" cy="104775"/>
          </a:xfrm>
          <a:prstGeom prst="rect">
            <a:avLst/>
          </a:prstGeom>
        </p:spPr>
      </p:pic>
      <p:sp>
        <p:nvSpPr>
          <p:cNvPr id="91" name="Text 76"/>
          <p:cNvSpPr/>
          <p:nvPr/>
        </p:nvSpPr>
        <p:spPr>
          <a:xfrm>
            <a:off x="8745061" y="8552343"/>
            <a:ext cx="26479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825" dirty="0"/>
          </a:p>
        </p:txBody>
      </p:sp>
      <p:sp>
        <p:nvSpPr>
          <p:cNvPr id="92" name="Shape 77"/>
          <p:cNvSpPr/>
          <p:nvPr/>
        </p:nvSpPr>
        <p:spPr>
          <a:xfrm>
            <a:off x="8373586" y="9012241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3" name="Shape 78"/>
          <p:cNvSpPr/>
          <p:nvPr/>
        </p:nvSpPr>
        <p:spPr>
          <a:xfrm>
            <a:off x="8297386" y="8859841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B7791F"/>
            </a:solidFill>
            <a:prstDash val="solid"/>
          </a:ln>
        </p:spPr>
      </p:sp>
      <p:sp>
        <p:nvSpPr>
          <p:cNvPr id="94" name="Shape 79"/>
          <p:cNvSpPr/>
          <p:nvPr/>
        </p:nvSpPr>
        <p:spPr>
          <a:xfrm>
            <a:off x="8354536" y="8916991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95" name="Text 80"/>
          <p:cNvSpPr/>
          <p:nvPr/>
        </p:nvSpPr>
        <p:spPr>
          <a:xfrm>
            <a:off x="8592661" y="8849199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96" name="Shape 81"/>
          <p:cNvSpPr/>
          <p:nvPr/>
        </p:nvSpPr>
        <p:spPr>
          <a:xfrm>
            <a:off x="9557861" y="8840791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97" name="Shape 82"/>
          <p:cNvSpPr/>
          <p:nvPr/>
        </p:nvSpPr>
        <p:spPr>
          <a:xfrm>
            <a:off x="9634061" y="8900322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98" name="Text 83"/>
          <p:cNvSpPr/>
          <p:nvPr/>
        </p:nvSpPr>
        <p:spPr>
          <a:xfrm>
            <a:off x="9748361" y="8859841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99" name="Text 84"/>
          <p:cNvSpPr/>
          <p:nvPr/>
        </p:nvSpPr>
        <p:spPr>
          <a:xfrm>
            <a:off x="13345637" y="8902387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08:19</a:t>
            </a:r>
            <a:endParaRPr lang="en-US" sz="750" dirty="0"/>
          </a:p>
        </p:txBody>
      </p:sp>
      <p:pic>
        <p:nvPicPr>
          <p:cNvPr id="10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2661" y="9051764"/>
            <a:ext cx="104775" cy="104775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8745061" y="9045736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102" name="Shape 86"/>
          <p:cNvSpPr/>
          <p:nvPr/>
        </p:nvSpPr>
        <p:spPr>
          <a:xfrm>
            <a:off x="8373586" y="9505634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03" name="Shape 87"/>
          <p:cNvSpPr/>
          <p:nvPr/>
        </p:nvSpPr>
        <p:spPr>
          <a:xfrm>
            <a:off x="8297386" y="9353234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7C3AED"/>
            </a:solidFill>
            <a:prstDash val="solid"/>
          </a:ln>
        </p:spPr>
      </p:sp>
      <p:sp>
        <p:nvSpPr>
          <p:cNvPr id="104" name="Shape 88"/>
          <p:cNvSpPr/>
          <p:nvPr/>
        </p:nvSpPr>
        <p:spPr>
          <a:xfrm>
            <a:off x="8354536" y="9410384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5" name="Text 89"/>
          <p:cNvSpPr/>
          <p:nvPr/>
        </p:nvSpPr>
        <p:spPr>
          <a:xfrm>
            <a:off x="8592661" y="9342593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106" name="Shape 90"/>
          <p:cNvSpPr/>
          <p:nvPr/>
        </p:nvSpPr>
        <p:spPr>
          <a:xfrm>
            <a:off x="9557861" y="9334184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F0E9FD"/>
          </a:solidFill>
          <a:ln/>
        </p:spPr>
      </p:sp>
      <p:sp>
        <p:nvSpPr>
          <p:cNvPr id="107" name="Shape 91"/>
          <p:cNvSpPr/>
          <p:nvPr/>
        </p:nvSpPr>
        <p:spPr>
          <a:xfrm>
            <a:off x="9634061" y="9393715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8" name="Text 92"/>
          <p:cNvSpPr/>
          <p:nvPr/>
        </p:nvSpPr>
        <p:spPr>
          <a:xfrm>
            <a:off x="9748361" y="9353234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825" dirty="0"/>
          </a:p>
        </p:txBody>
      </p:sp>
      <p:sp>
        <p:nvSpPr>
          <p:cNvPr id="109" name="Text 93"/>
          <p:cNvSpPr/>
          <p:nvPr/>
        </p:nvSpPr>
        <p:spPr>
          <a:xfrm>
            <a:off x="13345637" y="9395780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08:40</a:t>
            </a:r>
            <a:endParaRPr lang="en-US" sz="750" dirty="0"/>
          </a:p>
        </p:txBody>
      </p:sp>
      <p:pic>
        <p:nvPicPr>
          <p:cNvPr id="11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2661" y="9545157"/>
            <a:ext cx="104775" cy="104775"/>
          </a:xfrm>
          <a:prstGeom prst="rect">
            <a:avLst/>
          </a:prstGeom>
        </p:spPr>
      </p:pic>
      <p:sp>
        <p:nvSpPr>
          <p:cNvPr id="111" name="Text 94"/>
          <p:cNvSpPr/>
          <p:nvPr/>
        </p:nvSpPr>
        <p:spPr>
          <a:xfrm>
            <a:off x="8745061" y="9539129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112" name="Shape 95"/>
          <p:cNvSpPr/>
          <p:nvPr/>
        </p:nvSpPr>
        <p:spPr>
          <a:xfrm>
            <a:off x="8297386" y="9846627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646B7A"/>
            </a:solidFill>
            <a:prstDash val="solid"/>
          </a:ln>
        </p:spPr>
      </p:sp>
      <p:pic>
        <p:nvPicPr>
          <p:cNvPr id="11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0249" y="9889489"/>
            <a:ext cx="85725" cy="85725"/>
          </a:xfrm>
          <a:prstGeom prst="rect">
            <a:avLst/>
          </a:prstGeom>
        </p:spPr>
      </p:pic>
      <p:sp>
        <p:nvSpPr>
          <p:cNvPr id="114" name="Text 96"/>
          <p:cNvSpPr/>
          <p:nvPr/>
        </p:nvSpPr>
        <p:spPr>
          <a:xfrm>
            <a:off x="8592661" y="9827577"/>
            <a:ext cx="139890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from dispatch</a:t>
            </a:r>
            <a:endParaRPr lang="en-US" sz="975" dirty="0"/>
          </a:p>
        </p:txBody>
      </p:sp>
      <p:sp>
        <p:nvSpPr>
          <p:cNvPr id="115" name="Text 97"/>
          <p:cNvSpPr/>
          <p:nvPr/>
        </p:nvSpPr>
        <p:spPr>
          <a:xfrm>
            <a:off x="13345637" y="9880755"/>
            <a:ext cx="361950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08:40</a:t>
            </a:r>
            <a:endParaRPr lang="en-US" sz="750" dirty="0"/>
          </a:p>
        </p:txBody>
      </p:sp>
      <p:pic>
        <p:nvPicPr>
          <p:cNvPr id="11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92661" y="10021732"/>
            <a:ext cx="104775" cy="104775"/>
          </a:xfrm>
          <a:prstGeom prst="rect">
            <a:avLst/>
          </a:prstGeom>
        </p:spPr>
      </p:pic>
      <p:sp>
        <p:nvSpPr>
          <p:cNvPr id="117" name="Text 98"/>
          <p:cNvSpPr/>
          <p:nvPr/>
        </p:nvSpPr>
        <p:spPr>
          <a:xfrm>
            <a:off x="8745061" y="10015696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118" name="Shape 99"/>
          <p:cNvSpPr/>
          <p:nvPr/>
        </p:nvSpPr>
        <p:spPr>
          <a:xfrm>
            <a:off x="8592661" y="10218418"/>
            <a:ext cx="5038725" cy="371316"/>
          </a:xfrm>
          <a:prstGeom prst="roundRect">
            <a:avLst>
              <a:gd name="adj" fmla="val 25652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sp>
        <p:nvSpPr>
          <p:cNvPr id="119" name="Text 100"/>
          <p:cNvSpPr/>
          <p:nvPr/>
        </p:nvSpPr>
        <p:spPr>
          <a:xfrm>
            <a:off x="8717598" y="10314779"/>
            <a:ext cx="4940014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recovery unit has been dispatched and is on the way. ETA 15–20 minutes.</a:t>
            </a:r>
            <a:endParaRPr lang="en-US" sz="938" dirty="0"/>
          </a:p>
        </p:txBody>
      </p:sp>
      <p:sp>
        <p:nvSpPr>
          <p:cNvPr id="120" name="Shape 101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21" name="Shape 102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122" name="Shape 103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123" name="Text 104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09600"/>
            <a:ext cx="8561515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· WEB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979168"/>
            <a:ext cx="8561515" cy="5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12"/>
              </a:lnSpc>
              <a:buNone/>
            </a:pPr>
            <a:r>
              <a:rPr lang="en-US" sz="4050" b="1" spc="-8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incident — Road user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647509"/>
            <a:ext cx="856151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scales up to a centered form with category and location side by side.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524250" y="2339336"/>
            <a:ext cx="11239500" cy="7162800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0" dist="285750" dir="5400000">
              <a:srgbClr val="14171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34886" y="2349977"/>
            <a:ext cx="11218227" cy="4000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3534886" y="2739391"/>
            <a:ext cx="11218227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" name="Shape 7"/>
          <p:cNvSpPr/>
          <p:nvPr/>
        </p:nvSpPr>
        <p:spPr>
          <a:xfrm>
            <a:off x="3687286" y="2487457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3877786" y="2487457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68286" y="2487457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171380" y="2464910"/>
            <a:ext cx="992619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0" kern="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RoadAssist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534886" y="2750027"/>
            <a:ext cx="800100" cy="674147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4350" y="2750027"/>
            <a:ext cx="10636" cy="674147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58089" y="2921477"/>
            <a:ext cx="342900" cy="34290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54132" y="3017518"/>
            <a:ext cx="150812" cy="150812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03821" y="3067208"/>
            <a:ext cx="51435" cy="51435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710464" y="3512027"/>
            <a:ext cx="438150" cy="381000"/>
          </a:xfrm>
          <a:prstGeom prst="roundRect">
            <a:avLst>
              <a:gd name="adj" fmla="val 32500"/>
            </a:avLst>
          </a:prstGeom>
          <a:solidFill>
            <a:srgbClr val="FBEDE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764" y="3597752"/>
            <a:ext cx="209550" cy="2095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784124" y="3931127"/>
            <a:ext cx="367030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9C3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788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64" y="4326573"/>
            <a:ext cx="209550" cy="2095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64756" y="4659948"/>
            <a:ext cx="405765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88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289" y="8996995"/>
            <a:ext cx="190500" cy="1905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334986" y="2750027"/>
            <a:ext cx="10418127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334986" y="3310891"/>
            <a:ext cx="10418127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36" y="2935132"/>
            <a:ext cx="190500" cy="1905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68386" y="2908139"/>
            <a:ext cx="7769460" cy="28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incident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12544901" y="2854328"/>
            <a:ext cx="730885" cy="352266"/>
          </a:xfrm>
          <a:prstGeom prst="roundRect">
            <a:avLst>
              <a:gd name="adj" fmla="val 29743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2669837" y="2950685"/>
            <a:ext cx="48101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013" dirty="0"/>
          </a:p>
        </p:txBody>
      </p:sp>
      <p:sp>
        <p:nvSpPr>
          <p:cNvPr id="30" name="Shape 24"/>
          <p:cNvSpPr/>
          <p:nvPr/>
        </p:nvSpPr>
        <p:spPr>
          <a:xfrm>
            <a:off x="13409136" y="2864960"/>
            <a:ext cx="1134428" cy="330994"/>
          </a:xfrm>
          <a:prstGeom prst="roundRect">
            <a:avLst>
              <a:gd name="adj" fmla="val 31655"/>
            </a:avLst>
          </a:prstGeom>
          <a:solidFill>
            <a:srgbClr val="E0590B"/>
          </a:solidFill>
          <a:ln/>
          <a:effectLst>
            <a:outerShdw sx="100000" sy="100000" kx="0" ky="0" algn="bl" rotWithShape="0" blurRad="114300" dist="38100" dir="5400000">
              <a:srgbClr val="E0590B">
                <a:alpha val="26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13523436" y="2950685"/>
            <a:ext cx="905828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report</a:t>
            </a:r>
            <a:endParaRPr lang="en-US" sz="1013" dirty="0"/>
          </a:p>
        </p:txBody>
      </p:sp>
      <p:sp>
        <p:nvSpPr>
          <p:cNvPr id="32" name="Shape 26"/>
          <p:cNvSpPr/>
          <p:nvPr/>
        </p:nvSpPr>
        <p:spPr>
          <a:xfrm>
            <a:off x="4334986" y="3321527"/>
            <a:ext cx="10418127" cy="616997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3" name="Shape 27"/>
          <p:cNvSpPr/>
          <p:nvPr/>
        </p:nvSpPr>
        <p:spPr>
          <a:xfrm>
            <a:off x="6496050" y="3645377"/>
            <a:ext cx="6096000" cy="3515836"/>
          </a:xfrm>
          <a:prstGeom prst="roundRect">
            <a:avLst>
              <a:gd name="adj" fmla="val 4877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228600" dist="76200" dir="5400000">
              <a:srgbClr val="14171C">
                <a:alpha val="4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811486" y="3941759"/>
            <a:ext cx="6210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825" dirty="0"/>
          </a:p>
        </p:txBody>
      </p:sp>
      <p:sp>
        <p:nvSpPr>
          <p:cNvPr id="35" name="Shape 29"/>
          <p:cNvSpPr/>
          <p:nvPr/>
        </p:nvSpPr>
        <p:spPr>
          <a:xfrm>
            <a:off x="6811486" y="4125432"/>
            <a:ext cx="2637314" cy="421323"/>
          </a:xfrm>
          <a:prstGeom prst="roundRect">
            <a:avLst>
              <a:gd name="adj" fmla="val 24868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947" y="4250373"/>
            <a:ext cx="171450" cy="17145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03122" y="4256243"/>
            <a:ext cx="743267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2889" y="4250373"/>
            <a:ext cx="171450" cy="1714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639300" y="3941759"/>
            <a:ext cx="1097756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AUTO</a:t>
            </a:r>
            <a:endParaRPr lang="en-US" sz="825" dirty="0"/>
          </a:p>
        </p:txBody>
      </p:sp>
      <p:sp>
        <p:nvSpPr>
          <p:cNvPr id="40" name="Shape 32"/>
          <p:cNvSpPr/>
          <p:nvPr/>
        </p:nvSpPr>
        <p:spPr>
          <a:xfrm>
            <a:off x="9639300" y="4125432"/>
            <a:ext cx="2637314" cy="402273"/>
          </a:xfrm>
          <a:prstGeom prst="roundRect">
            <a:avLst>
              <a:gd name="adj" fmla="val 26046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3761" y="4240848"/>
            <a:ext cx="171450" cy="17145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040461" y="4262754"/>
            <a:ext cx="1930241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52.0907, 5.1214</a:t>
            </a:r>
            <a:endParaRPr lang="en-US" sz="938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89752" y="4250373"/>
            <a:ext cx="152400" cy="1524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11486" y="4699155"/>
            <a:ext cx="825341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825" dirty="0"/>
          </a:p>
        </p:txBody>
      </p:sp>
      <p:sp>
        <p:nvSpPr>
          <p:cNvPr id="45" name="Text 35"/>
          <p:cNvSpPr/>
          <p:nvPr/>
        </p:nvSpPr>
        <p:spPr>
          <a:xfrm>
            <a:off x="11773693" y="4699155"/>
            <a:ext cx="57912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/ 500</a:t>
            </a:r>
            <a:endParaRPr lang="en-US" sz="825" dirty="0"/>
          </a:p>
        </p:txBody>
      </p:sp>
      <p:sp>
        <p:nvSpPr>
          <p:cNvPr id="46" name="Shape 36"/>
          <p:cNvSpPr/>
          <p:nvPr/>
        </p:nvSpPr>
        <p:spPr>
          <a:xfrm>
            <a:off x="6811486" y="4882837"/>
            <a:ext cx="5465127" cy="990600"/>
          </a:xfrm>
          <a:prstGeom prst="roundRect">
            <a:avLst>
              <a:gd name="adj" fmla="val 10577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945948" y="5007773"/>
            <a:ext cx="5360159" cy="778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tyre on the front passenger side, no spare in the car. Parked safely on the verge just past the exit.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6811486" y="6031232"/>
            <a:ext cx="116586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· OPTIONAL</a:t>
            </a:r>
            <a:endParaRPr lang="en-US" sz="825" dirty="0"/>
          </a:p>
        </p:txBody>
      </p:sp>
      <p:sp>
        <p:nvSpPr>
          <p:cNvPr id="49" name="Shape 39"/>
          <p:cNvSpPr/>
          <p:nvPr/>
        </p:nvSpPr>
        <p:spPr>
          <a:xfrm>
            <a:off x="6811486" y="6214904"/>
            <a:ext cx="5465127" cy="497522"/>
          </a:xfrm>
          <a:prstGeom prst="roundRect">
            <a:avLst>
              <a:gd name="adj" fmla="val 22974"/>
            </a:avLst>
          </a:prstGeom>
          <a:solidFill>
            <a:srgbClr val="F7F8FA"/>
          </a:solidFill>
          <a:ln w="10636">
            <a:solidFill>
              <a:srgbClr val="E4E7EC"/>
            </a:solidFill>
            <a:prstDash val="dash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4522" y="6377936"/>
            <a:ext cx="171450" cy="17145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260272" y="6383815"/>
            <a:ext cx="2011997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 photo here, or click to add</a:t>
            </a:r>
            <a:endParaRPr lang="en-US" sz="1013" dirty="0"/>
          </a:p>
        </p:txBody>
      </p:sp>
      <p:sp>
        <p:nvSpPr>
          <p:cNvPr id="52" name="Shape 41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53" name="Shape 42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55" name="Text 44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09600"/>
            <a:ext cx="788817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· WEB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979168"/>
            <a:ext cx="7888170" cy="5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12"/>
              </a:lnSpc>
              <a:buNone/>
            </a:pPr>
            <a:r>
              <a:rPr lang="en-US" sz="4050" b="1" spc="-8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— Road user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647509"/>
            <a:ext cx="788817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incidents in a list–detail split, each showing its full audit history.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524250" y="2339336"/>
            <a:ext cx="11239500" cy="7162800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0" dist="285750" dir="5400000">
              <a:srgbClr val="14171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34886" y="2349977"/>
            <a:ext cx="11218227" cy="4000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3534886" y="2739391"/>
            <a:ext cx="11218227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" name="Shape 7"/>
          <p:cNvSpPr/>
          <p:nvPr/>
        </p:nvSpPr>
        <p:spPr>
          <a:xfrm>
            <a:off x="3687286" y="2487457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3877786" y="2487457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68286" y="2487457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171380" y="2464910"/>
            <a:ext cx="992619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0" kern="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RoadAssist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534886" y="2750027"/>
            <a:ext cx="800100" cy="674147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4350" y="2750027"/>
            <a:ext cx="10636" cy="674147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58089" y="2921477"/>
            <a:ext cx="342900" cy="34290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54132" y="3017518"/>
            <a:ext cx="150812" cy="150812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03821" y="3067208"/>
            <a:ext cx="51435" cy="51435"/>
          </a:xfrm>
          <a:prstGeom prst="ellipse">
            <a:avLst/>
          </a:prstGeom>
          <a:solidFill>
            <a:srgbClr val="E0590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764" y="3597752"/>
            <a:ext cx="209550" cy="2095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786505" y="3931127"/>
            <a:ext cx="362268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788" dirty="0"/>
          </a:p>
        </p:txBody>
      </p:sp>
      <p:sp>
        <p:nvSpPr>
          <p:cNvPr id="20" name="Shape 17"/>
          <p:cNvSpPr/>
          <p:nvPr/>
        </p:nvSpPr>
        <p:spPr>
          <a:xfrm>
            <a:off x="3710464" y="4240848"/>
            <a:ext cx="438150" cy="381000"/>
          </a:xfrm>
          <a:prstGeom prst="roundRect">
            <a:avLst>
              <a:gd name="adj" fmla="val 32500"/>
            </a:avLst>
          </a:prstGeom>
          <a:solidFill>
            <a:srgbClr val="FBEDE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64" y="4326573"/>
            <a:ext cx="209550" cy="2095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62216" y="4659948"/>
            <a:ext cx="410686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9C3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88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289" y="8996995"/>
            <a:ext cx="190500" cy="1905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334986" y="2750027"/>
            <a:ext cx="10418127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334986" y="3310891"/>
            <a:ext cx="10418127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6" name="Text 21"/>
          <p:cNvSpPr/>
          <p:nvPr/>
        </p:nvSpPr>
        <p:spPr>
          <a:xfrm>
            <a:off x="4544536" y="2908139"/>
            <a:ext cx="9484706" cy="28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3886339" y="2966563"/>
            <a:ext cx="733425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resolved</a:t>
            </a:r>
            <a:endParaRPr lang="en-US" sz="863" dirty="0"/>
          </a:p>
        </p:txBody>
      </p:sp>
      <p:sp>
        <p:nvSpPr>
          <p:cNvPr id="28" name="Shape 23"/>
          <p:cNvSpPr/>
          <p:nvPr/>
        </p:nvSpPr>
        <p:spPr>
          <a:xfrm>
            <a:off x="4334986" y="3321527"/>
            <a:ext cx="3619500" cy="61699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7943850" y="3321527"/>
            <a:ext cx="10636" cy="616997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0" name="Shape 25"/>
          <p:cNvSpPr/>
          <p:nvPr/>
        </p:nvSpPr>
        <p:spPr>
          <a:xfrm>
            <a:off x="4334986" y="3321527"/>
            <a:ext cx="3608864" cy="1040289"/>
          </a:xfrm>
          <a:prstGeom prst="rect">
            <a:avLst/>
          </a:prstGeom>
          <a:solidFill>
            <a:srgbClr val="FBEDE2"/>
          </a:solidFill>
          <a:ln/>
        </p:spPr>
      </p:sp>
      <p:sp>
        <p:nvSpPr>
          <p:cNvPr id="31" name="Shape 26"/>
          <p:cNvSpPr/>
          <p:nvPr/>
        </p:nvSpPr>
        <p:spPr>
          <a:xfrm>
            <a:off x="4334986" y="4351180"/>
            <a:ext cx="36088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2" name="Shape 27"/>
          <p:cNvSpPr/>
          <p:nvPr/>
        </p:nvSpPr>
        <p:spPr>
          <a:xfrm>
            <a:off x="4487386" y="3445352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74" y="3535840"/>
            <a:ext cx="180975" cy="18097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973161" y="3445352"/>
            <a:ext cx="75406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35" name="Text 29"/>
          <p:cNvSpPr/>
          <p:nvPr/>
        </p:nvSpPr>
        <p:spPr>
          <a:xfrm>
            <a:off x="7162800" y="3487899"/>
            <a:ext cx="7048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days ago</a:t>
            </a:r>
            <a:endParaRPr lang="en-US" sz="825" dirty="0"/>
          </a:p>
        </p:txBody>
      </p:sp>
      <p:sp>
        <p:nvSpPr>
          <p:cNvPr id="36" name="Text 30"/>
          <p:cNvSpPr/>
          <p:nvPr/>
        </p:nvSpPr>
        <p:spPr>
          <a:xfrm>
            <a:off x="4973161" y="3633471"/>
            <a:ext cx="2902837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battery in the car park, needed a jump start. Resolved on site.</a:t>
            </a:r>
            <a:endParaRPr lang="en-US" sz="960" dirty="0"/>
          </a:p>
        </p:txBody>
      </p:sp>
      <p:sp>
        <p:nvSpPr>
          <p:cNvPr id="37" name="Shape 31"/>
          <p:cNvSpPr/>
          <p:nvPr/>
        </p:nvSpPr>
        <p:spPr>
          <a:xfrm>
            <a:off x="4973161" y="4050981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E2F4EC"/>
          </a:solidFill>
          <a:ln/>
        </p:spPr>
      </p:sp>
      <p:sp>
        <p:nvSpPr>
          <p:cNvPr id="38" name="Shape 32"/>
          <p:cNvSpPr/>
          <p:nvPr/>
        </p:nvSpPr>
        <p:spPr>
          <a:xfrm>
            <a:off x="5049361" y="4110512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39" name="Text 33"/>
          <p:cNvSpPr/>
          <p:nvPr/>
        </p:nvSpPr>
        <p:spPr>
          <a:xfrm>
            <a:off x="5163661" y="4070031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40" name="Shape 34"/>
          <p:cNvSpPr/>
          <p:nvPr/>
        </p:nvSpPr>
        <p:spPr>
          <a:xfrm>
            <a:off x="4334986" y="4361817"/>
            <a:ext cx="3608864" cy="869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4334986" y="5220814"/>
            <a:ext cx="36088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2" name="Shape 36"/>
          <p:cNvSpPr/>
          <p:nvPr/>
        </p:nvSpPr>
        <p:spPr>
          <a:xfrm>
            <a:off x="4487386" y="4485642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874" y="4576130"/>
            <a:ext cx="180975" cy="180975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973161" y="4485642"/>
            <a:ext cx="41370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013" dirty="0"/>
          </a:p>
        </p:txBody>
      </p:sp>
      <p:sp>
        <p:nvSpPr>
          <p:cNvPr id="45" name="Text 38"/>
          <p:cNvSpPr/>
          <p:nvPr/>
        </p:nvSpPr>
        <p:spPr>
          <a:xfrm>
            <a:off x="7162800" y="4528189"/>
            <a:ext cx="70485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week ago</a:t>
            </a:r>
            <a:endParaRPr lang="en-US" sz="825" dirty="0"/>
          </a:p>
        </p:txBody>
      </p:sp>
      <p:sp>
        <p:nvSpPr>
          <p:cNvPr id="46" name="Text 39"/>
          <p:cNvSpPr/>
          <p:nvPr/>
        </p:nvSpPr>
        <p:spPr>
          <a:xfrm>
            <a:off x="4973161" y="4673761"/>
            <a:ext cx="2902837" cy="208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out of fuel on the ring road. Fuel delivered.</a:t>
            </a:r>
            <a:endParaRPr lang="en-US" sz="960" dirty="0"/>
          </a:p>
        </p:txBody>
      </p:sp>
      <p:sp>
        <p:nvSpPr>
          <p:cNvPr id="47" name="Shape 40"/>
          <p:cNvSpPr/>
          <p:nvPr/>
        </p:nvSpPr>
        <p:spPr>
          <a:xfrm>
            <a:off x="4973161" y="4920611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E2F4EC"/>
          </a:solidFill>
          <a:ln/>
        </p:spPr>
      </p:sp>
      <p:sp>
        <p:nvSpPr>
          <p:cNvPr id="48" name="Shape 41"/>
          <p:cNvSpPr/>
          <p:nvPr/>
        </p:nvSpPr>
        <p:spPr>
          <a:xfrm>
            <a:off x="5049361" y="4980143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49" name="Text 42"/>
          <p:cNvSpPr/>
          <p:nvPr/>
        </p:nvSpPr>
        <p:spPr>
          <a:xfrm>
            <a:off x="5163661" y="4939661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50" name="Shape 43"/>
          <p:cNvSpPr/>
          <p:nvPr/>
        </p:nvSpPr>
        <p:spPr>
          <a:xfrm>
            <a:off x="4334986" y="5231448"/>
            <a:ext cx="3608864" cy="10296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4"/>
          <p:cNvSpPr/>
          <p:nvPr/>
        </p:nvSpPr>
        <p:spPr>
          <a:xfrm>
            <a:off x="4487386" y="5355273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7874" y="5445761"/>
            <a:ext cx="180975" cy="180975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4973161" y="5355273"/>
            <a:ext cx="75406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54" name="Text 46"/>
          <p:cNvSpPr/>
          <p:nvPr/>
        </p:nvSpPr>
        <p:spPr>
          <a:xfrm>
            <a:off x="7099935" y="5397819"/>
            <a:ext cx="76771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weeks ago</a:t>
            </a:r>
            <a:endParaRPr lang="en-US" sz="825" dirty="0"/>
          </a:p>
        </p:txBody>
      </p:sp>
      <p:sp>
        <p:nvSpPr>
          <p:cNvPr id="55" name="Text 47"/>
          <p:cNvSpPr/>
          <p:nvPr/>
        </p:nvSpPr>
        <p:spPr>
          <a:xfrm>
            <a:off x="4973161" y="5543392"/>
            <a:ext cx="2902837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Overheating engine, coolant topped up and towed to garage.</a:t>
            </a:r>
            <a:endParaRPr lang="en-US" sz="960" dirty="0"/>
          </a:p>
        </p:txBody>
      </p:sp>
      <p:sp>
        <p:nvSpPr>
          <p:cNvPr id="56" name="Shape 48"/>
          <p:cNvSpPr/>
          <p:nvPr/>
        </p:nvSpPr>
        <p:spPr>
          <a:xfrm>
            <a:off x="4973161" y="5960901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E2F4EC"/>
          </a:solidFill>
          <a:ln/>
        </p:spPr>
      </p:sp>
      <p:sp>
        <p:nvSpPr>
          <p:cNvPr id="57" name="Shape 49"/>
          <p:cNvSpPr/>
          <p:nvPr/>
        </p:nvSpPr>
        <p:spPr>
          <a:xfrm>
            <a:off x="5049361" y="6020433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58" name="Text 50"/>
          <p:cNvSpPr/>
          <p:nvPr/>
        </p:nvSpPr>
        <p:spPr>
          <a:xfrm>
            <a:off x="5163661" y="5979951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59" name="Shape 51"/>
          <p:cNvSpPr/>
          <p:nvPr/>
        </p:nvSpPr>
        <p:spPr>
          <a:xfrm>
            <a:off x="7954486" y="3321527"/>
            <a:ext cx="6798627" cy="616997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0" name="Shape 52"/>
          <p:cNvSpPr/>
          <p:nvPr/>
        </p:nvSpPr>
        <p:spPr>
          <a:xfrm>
            <a:off x="8297386" y="3607277"/>
            <a:ext cx="1020445" cy="246380"/>
          </a:xfrm>
          <a:prstGeom prst="roundRect">
            <a:avLst>
              <a:gd name="adj" fmla="val 30928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4222" y="3659032"/>
            <a:ext cx="142875" cy="142875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8584247" y="3656009"/>
            <a:ext cx="70389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938" dirty="0"/>
          </a:p>
        </p:txBody>
      </p:sp>
      <p:sp>
        <p:nvSpPr>
          <p:cNvPr id="63" name="Shape 54"/>
          <p:cNvSpPr/>
          <p:nvPr/>
        </p:nvSpPr>
        <p:spPr>
          <a:xfrm>
            <a:off x="12760166" y="3627434"/>
            <a:ext cx="871220" cy="206057"/>
          </a:xfrm>
          <a:prstGeom prst="roundRect">
            <a:avLst>
              <a:gd name="adj" fmla="val 32358"/>
            </a:avLst>
          </a:prstGeom>
          <a:solidFill>
            <a:srgbClr val="E2F4EC"/>
          </a:solidFill>
          <a:ln/>
        </p:spPr>
      </p:sp>
      <p:sp>
        <p:nvSpPr>
          <p:cNvPr id="64" name="Shape 55"/>
          <p:cNvSpPr/>
          <p:nvPr/>
        </p:nvSpPr>
        <p:spPr>
          <a:xfrm>
            <a:off x="12855416" y="3701895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65" name="Text 56"/>
          <p:cNvSpPr/>
          <p:nvPr/>
        </p:nvSpPr>
        <p:spPr>
          <a:xfrm>
            <a:off x="12969716" y="3656009"/>
            <a:ext cx="642620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8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900" dirty="0"/>
          </a:p>
        </p:txBody>
      </p:sp>
      <p:sp>
        <p:nvSpPr>
          <p:cNvPr id="66" name="Text 57"/>
          <p:cNvSpPr/>
          <p:nvPr/>
        </p:nvSpPr>
        <p:spPr>
          <a:xfrm>
            <a:off x="8297386" y="4006053"/>
            <a:ext cx="5494020" cy="46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43"/>
              </a:lnSpc>
              <a:buNone/>
            </a:pPr>
            <a:r>
              <a:rPr lang="en-US" sz="108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battery in the supermarket car park, the car would not start. Needed a jump start to get going again.</a:t>
            </a:r>
            <a:endParaRPr lang="en-US" sz="1088" dirty="0"/>
          </a:p>
        </p:txBody>
      </p:sp>
      <p:sp>
        <p:nvSpPr>
          <p:cNvPr id="67" name="Shape 58"/>
          <p:cNvSpPr/>
          <p:nvPr/>
        </p:nvSpPr>
        <p:spPr>
          <a:xfrm>
            <a:off x="8297386" y="4605496"/>
            <a:ext cx="5334000" cy="502920"/>
          </a:xfrm>
          <a:prstGeom prst="roundRect">
            <a:avLst>
              <a:gd name="adj" fmla="val 22727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847" y="4771234"/>
            <a:ext cx="171450" cy="171450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8698547" y="4730437"/>
            <a:ext cx="1147763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750" dirty="0"/>
          </a:p>
        </p:txBody>
      </p:sp>
      <p:sp>
        <p:nvSpPr>
          <p:cNvPr id="70" name="Text 60"/>
          <p:cNvSpPr/>
          <p:nvPr/>
        </p:nvSpPr>
        <p:spPr>
          <a:xfrm>
            <a:off x="8698547" y="4855843"/>
            <a:ext cx="1147763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52.0934, 5.1031</a:t>
            </a:r>
            <a:endParaRPr lang="en-US" sz="938" dirty="0"/>
          </a:p>
        </p:txBody>
      </p:sp>
      <p:sp>
        <p:nvSpPr>
          <p:cNvPr id="71" name="Shape 61"/>
          <p:cNvSpPr/>
          <p:nvPr/>
        </p:nvSpPr>
        <p:spPr>
          <a:xfrm>
            <a:off x="8297386" y="5241764"/>
            <a:ext cx="5334000" cy="584359"/>
          </a:xfrm>
          <a:prstGeom prst="roundRect">
            <a:avLst>
              <a:gd name="adj" fmla="val 19560"/>
            </a:avLst>
          </a:prstGeom>
          <a:solidFill>
            <a:srgbClr val="FBEDE2"/>
          </a:solidFill>
          <a:ln w="10636">
            <a:solidFill>
              <a:srgbClr val="F3D8C2"/>
            </a:solidFill>
            <a:prstDash val="solid"/>
          </a:ln>
        </p:spPr>
      </p:sp>
      <p:sp>
        <p:nvSpPr>
          <p:cNvPr id="72" name="Text 62"/>
          <p:cNvSpPr/>
          <p:nvPr/>
        </p:nvSpPr>
        <p:spPr>
          <a:xfrm>
            <a:off x="8441372" y="5366705"/>
            <a:ext cx="5197408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NOTE</a:t>
            </a:r>
            <a:endParaRPr lang="en-US" sz="750" dirty="0"/>
          </a:p>
        </p:txBody>
      </p:sp>
      <p:sp>
        <p:nvSpPr>
          <p:cNvPr id="73" name="Text 63"/>
          <p:cNvSpPr/>
          <p:nvPr/>
        </p:nvSpPr>
        <p:spPr>
          <a:xfrm>
            <a:off x="8441372" y="5511161"/>
            <a:ext cx="5197408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jump-started on site. Drive safely — have the battery checked soon.</a:t>
            </a:r>
            <a:endParaRPr lang="en-US" sz="998" dirty="0"/>
          </a:p>
        </p:txBody>
      </p:sp>
      <p:sp>
        <p:nvSpPr>
          <p:cNvPr id="74" name="Shape 64"/>
          <p:cNvSpPr/>
          <p:nvPr/>
        </p:nvSpPr>
        <p:spPr>
          <a:xfrm>
            <a:off x="8297386" y="6054728"/>
            <a:ext cx="5334000" cy="9525"/>
          </a:xfrm>
          <a:prstGeom prst="rect">
            <a:avLst/>
          </a:prstGeom>
          <a:solidFill>
            <a:srgbClr val="E4E7EC"/>
          </a:solidFill>
          <a:ln/>
        </p:spPr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7386" y="6309522"/>
            <a:ext cx="142875" cy="142875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8516461" y="6295867"/>
            <a:ext cx="4516542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1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history</a:t>
            </a:r>
            <a:endParaRPr lang="en-US" sz="1050" dirty="0"/>
          </a:p>
        </p:txBody>
      </p:sp>
      <p:sp>
        <p:nvSpPr>
          <p:cNvPr id="77" name="Shape 66"/>
          <p:cNvSpPr/>
          <p:nvPr/>
        </p:nvSpPr>
        <p:spPr>
          <a:xfrm>
            <a:off x="12977653" y="6292853"/>
            <a:ext cx="653732" cy="176371"/>
          </a:xfrm>
          <a:prstGeom prst="roundRect">
            <a:avLst>
              <a:gd name="adj" fmla="val 37804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78" name="Text 67"/>
          <p:cNvSpPr/>
          <p:nvPr/>
        </p:nvSpPr>
        <p:spPr>
          <a:xfrm>
            <a:off x="13064490" y="6322539"/>
            <a:ext cx="55626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highlight>
                  <a:srgbClr val="F1F3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788" dirty="0"/>
          </a:p>
        </p:txBody>
      </p:sp>
      <p:sp>
        <p:nvSpPr>
          <p:cNvPr id="79" name="Shape 68"/>
          <p:cNvSpPr/>
          <p:nvPr/>
        </p:nvSpPr>
        <p:spPr>
          <a:xfrm>
            <a:off x="8373586" y="6783549"/>
            <a:ext cx="19050" cy="34321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80" name="Shape 69"/>
          <p:cNvSpPr/>
          <p:nvPr/>
        </p:nvSpPr>
        <p:spPr>
          <a:xfrm>
            <a:off x="8297386" y="6631149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E0590B"/>
            </a:solidFill>
            <a:prstDash val="solid"/>
          </a:ln>
        </p:spPr>
      </p:sp>
      <p:pic>
        <p:nvPicPr>
          <p:cNvPr id="8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249" y="6674011"/>
            <a:ext cx="85725" cy="85725"/>
          </a:xfrm>
          <a:prstGeom prst="rect">
            <a:avLst/>
          </a:prstGeom>
        </p:spPr>
      </p:pic>
      <p:sp>
        <p:nvSpPr>
          <p:cNvPr id="82" name="Text 70"/>
          <p:cNvSpPr/>
          <p:nvPr/>
        </p:nvSpPr>
        <p:spPr>
          <a:xfrm>
            <a:off x="8592661" y="6612099"/>
            <a:ext cx="106283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reported this</a:t>
            </a:r>
            <a:endParaRPr lang="en-US" sz="975" dirty="0"/>
          </a:p>
        </p:txBody>
      </p:sp>
      <p:sp>
        <p:nvSpPr>
          <p:cNvPr id="83" name="Text 71"/>
          <p:cNvSpPr/>
          <p:nvPr/>
        </p:nvSpPr>
        <p:spPr>
          <a:xfrm>
            <a:off x="12831287" y="6665277"/>
            <a:ext cx="87630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28 · 14:02</a:t>
            </a:r>
            <a:endParaRPr lang="en-US" sz="750" dirty="0"/>
          </a:p>
        </p:txBody>
      </p:sp>
      <p:pic>
        <p:nvPicPr>
          <p:cNvPr id="8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2661" y="6806245"/>
            <a:ext cx="104775" cy="104775"/>
          </a:xfrm>
          <a:prstGeom prst="rect">
            <a:avLst/>
          </a:prstGeom>
        </p:spPr>
      </p:pic>
      <p:sp>
        <p:nvSpPr>
          <p:cNvPr id="85" name="Text 72"/>
          <p:cNvSpPr/>
          <p:nvPr/>
        </p:nvSpPr>
        <p:spPr>
          <a:xfrm>
            <a:off x="8745061" y="6800217"/>
            <a:ext cx="26479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825" dirty="0"/>
          </a:p>
        </p:txBody>
      </p:sp>
      <p:sp>
        <p:nvSpPr>
          <p:cNvPr id="86" name="Shape 73"/>
          <p:cNvSpPr/>
          <p:nvPr/>
        </p:nvSpPr>
        <p:spPr>
          <a:xfrm>
            <a:off x="8373586" y="7260115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87" name="Shape 74"/>
          <p:cNvSpPr/>
          <p:nvPr/>
        </p:nvSpPr>
        <p:spPr>
          <a:xfrm>
            <a:off x="8297386" y="7107715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B7791F"/>
            </a:solidFill>
            <a:prstDash val="solid"/>
          </a:ln>
        </p:spPr>
      </p:sp>
      <p:sp>
        <p:nvSpPr>
          <p:cNvPr id="88" name="Shape 75"/>
          <p:cNvSpPr/>
          <p:nvPr/>
        </p:nvSpPr>
        <p:spPr>
          <a:xfrm>
            <a:off x="8354536" y="7164865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89" name="Text 76"/>
          <p:cNvSpPr/>
          <p:nvPr/>
        </p:nvSpPr>
        <p:spPr>
          <a:xfrm>
            <a:off x="8592661" y="7097074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90" name="Shape 77"/>
          <p:cNvSpPr/>
          <p:nvPr/>
        </p:nvSpPr>
        <p:spPr>
          <a:xfrm>
            <a:off x="9557861" y="7088665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91" name="Shape 78"/>
          <p:cNvSpPr/>
          <p:nvPr/>
        </p:nvSpPr>
        <p:spPr>
          <a:xfrm>
            <a:off x="9634061" y="7148196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92" name="Text 79"/>
          <p:cNvSpPr/>
          <p:nvPr/>
        </p:nvSpPr>
        <p:spPr>
          <a:xfrm>
            <a:off x="9748361" y="7107715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93" name="Text 80"/>
          <p:cNvSpPr/>
          <p:nvPr/>
        </p:nvSpPr>
        <p:spPr>
          <a:xfrm>
            <a:off x="12831287" y="7150261"/>
            <a:ext cx="87630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28 · 14:07</a:t>
            </a:r>
            <a:endParaRPr lang="en-US" sz="750" dirty="0"/>
          </a:p>
        </p:txBody>
      </p:sp>
      <p:pic>
        <p:nvPicPr>
          <p:cNvPr id="9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2661" y="7299638"/>
            <a:ext cx="104775" cy="104775"/>
          </a:xfrm>
          <a:prstGeom prst="rect">
            <a:avLst/>
          </a:prstGeom>
        </p:spPr>
      </p:pic>
      <p:sp>
        <p:nvSpPr>
          <p:cNvPr id="95" name="Text 81"/>
          <p:cNvSpPr/>
          <p:nvPr/>
        </p:nvSpPr>
        <p:spPr>
          <a:xfrm>
            <a:off x="8745061" y="7293611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96" name="Shape 82"/>
          <p:cNvSpPr/>
          <p:nvPr/>
        </p:nvSpPr>
        <p:spPr>
          <a:xfrm>
            <a:off x="8373586" y="7753508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7" name="Shape 83"/>
          <p:cNvSpPr/>
          <p:nvPr/>
        </p:nvSpPr>
        <p:spPr>
          <a:xfrm>
            <a:off x="8297386" y="7601108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7C3AED"/>
            </a:solidFill>
            <a:prstDash val="solid"/>
          </a:ln>
        </p:spPr>
      </p:sp>
      <p:sp>
        <p:nvSpPr>
          <p:cNvPr id="98" name="Shape 84"/>
          <p:cNvSpPr/>
          <p:nvPr/>
        </p:nvSpPr>
        <p:spPr>
          <a:xfrm>
            <a:off x="8354536" y="7658258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9" name="Text 85"/>
          <p:cNvSpPr/>
          <p:nvPr/>
        </p:nvSpPr>
        <p:spPr>
          <a:xfrm>
            <a:off x="8592661" y="7590476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100" name="Shape 86"/>
          <p:cNvSpPr/>
          <p:nvPr/>
        </p:nvSpPr>
        <p:spPr>
          <a:xfrm>
            <a:off x="9557861" y="7582058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F0E9FD"/>
          </a:solidFill>
          <a:ln/>
        </p:spPr>
      </p:sp>
      <p:sp>
        <p:nvSpPr>
          <p:cNvPr id="101" name="Shape 87"/>
          <p:cNvSpPr/>
          <p:nvPr/>
        </p:nvSpPr>
        <p:spPr>
          <a:xfrm>
            <a:off x="9634061" y="7641589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2" name="Text 88"/>
          <p:cNvSpPr/>
          <p:nvPr/>
        </p:nvSpPr>
        <p:spPr>
          <a:xfrm>
            <a:off x="9748361" y="7601108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825" dirty="0"/>
          </a:p>
        </p:txBody>
      </p:sp>
      <p:sp>
        <p:nvSpPr>
          <p:cNvPr id="103" name="Text 89"/>
          <p:cNvSpPr/>
          <p:nvPr/>
        </p:nvSpPr>
        <p:spPr>
          <a:xfrm>
            <a:off x="12831287" y="7643654"/>
            <a:ext cx="876300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28 · 14:15</a:t>
            </a:r>
            <a:endParaRPr lang="en-US" sz="750" dirty="0"/>
          </a:p>
        </p:txBody>
      </p:sp>
      <p:pic>
        <p:nvPicPr>
          <p:cNvPr id="10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2661" y="7793041"/>
            <a:ext cx="104775" cy="104775"/>
          </a:xfrm>
          <a:prstGeom prst="rect">
            <a:avLst/>
          </a:prstGeom>
        </p:spPr>
      </p:pic>
      <p:sp>
        <p:nvSpPr>
          <p:cNvPr id="105" name="Text 90"/>
          <p:cNvSpPr/>
          <p:nvPr/>
        </p:nvSpPr>
        <p:spPr>
          <a:xfrm>
            <a:off x="8745061" y="7787004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106" name="Shape 91"/>
          <p:cNvSpPr/>
          <p:nvPr/>
        </p:nvSpPr>
        <p:spPr>
          <a:xfrm>
            <a:off x="8373586" y="8246901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07" name="Shape 92"/>
          <p:cNvSpPr/>
          <p:nvPr/>
        </p:nvSpPr>
        <p:spPr>
          <a:xfrm>
            <a:off x="8297386" y="8094501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0F8A5F"/>
            </a:solidFill>
            <a:prstDash val="solid"/>
          </a:ln>
        </p:spPr>
      </p:sp>
      <p:sp>
        <p:nvSpPr>
          <p:cNvPr id="108" name="Shape 93"/>
          <p:cNvSpPr/>
          <p:nvPr/>
        </p:nvSpPr>
        <p:spPr>
          <a:xfrm>
            <a:off x="8354536" y="8151651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109" name="Text 94"/>
          <p:cNvSpPr/>
          <p:nvPr/>
        </p:nvSpPr>
        <p:spPr>
          <a:xfrm>
            <a:off x="8592661" y="8083869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110" name="Shape 95"/>
          <p:cNvSpPr/>
          <p:nvPr/>
        </p:nvSpPr>
        <p:spPr>
          <a:xfrm>
            <a:off x="9557861" y="8075451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E2F4EC"/>
          </a:solidFill>
          <a:ln/>
        </p:spPr>
      </p:sp>
      <p:sp>
        <p:nvSpPr>
          <p:cNvPr id="111" name="Shape 96"/>
          <p:cNvSpPr/>
          <p:nvPr/>
        </p:nvSpPr>
        <p:spPr>
          <a:xfrm>
            <a:off x="9634061" y="8134983"/>
            <a:ext cx="57150" cy="57150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112" name="Text 97"/>
          <p:cNvSpPr/>
          <p:nvPr/>
        </p:nvSpPr>
        <p:spPr>
          <a:xfrm>
            <a:off x="9748361" y="8094501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0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113" name="Text 98"/>
          <p:cNvSpPr/>
          <p:nvPr/>
        </p:nvSpPr>
        <p:spPr>
          <a:xfrm>
            <a:off x="12831287" y="8137048"/>
            <a:ext cx="876300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28 · 15:01</a:t>
            </a:r>
            <a:endParaRPr lang="en-US" sz="750" dirty="0"/>
          </a:p>
        </p:txBody>
      </p:sp>
      <p:pic>
        <p:nvPicPr>
          <p:cNvPr id="11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2661" y="8286434"/>
            <a:ext cx="104775" cy="104775"/>
          </a:xfrm>
          <a:prstGeom prst="rect">
            <a:avLst/>
          </a:prstGeom>
        </p:spPr>
      </p:pic>
      <p:sp>
        <p:nvSpPr>
          <p:cNvPr id="115" name="Text 99"/>
          <p:cNvSpPr/>
          <p:nvPr/>
        </p:nvSpPr>
        <p:spPr>
          <a:xfrm>
            <a:off x="8745061" y="8280397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116" name="Shape 100"/>
          <p:cNvSpPr/>
          <p:nvPr/>
        </p:nvSpPr>
        <p:spPr>
          <a:xfrm>
            <a:off x="8297386" y="8587894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646B7A"/>
            </a:solidFill>
            <a:prstDash val="solid"/>
          </a:ln>
        </p:spPr>
      </p:sp>
      <p:pic>
        <p:nvPicPr>
          <p:cNvPr id="11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0249" y="8630757"/>
            <a:ext cx="85725" cy="85725"/>
          </a:xfrm>
          <a:prstGeom prst="rect">
            <a:avLst/>
          </a:prstGeom>
        </p:spPr>
      </p:pic>
      <p:sp>
        <p:nvSpPr>
          <p:cNvPr id="118" name="Text 101"/>
          <p:cNvSpPr/>
          <p:nvPr/>
        </p:nvSpPr>
        <p:spPr>
          <a:xfrm>
            <a:off x="8592661" y="8568844"/>
            <a:ext cx="139890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from dispatch</a:t>
            </a:r>
            <a:endParaRPr lang="en-US" sz="975" dirty="0"/>
          </a:p>
        </p:txBody>
      </p:sp>
      <p:sp>
        <p:nvSpPr>
          <p:cNvPr id="119" name="Text 102"/>
          <p:cNvSpPr/>
          <p:nvPr/>
        </p:nvSpPr>
        <p:spPr>
          <a:xfrm>
            <a:off x="12831287" y="8622032"/>
            <a:ext cx="87630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28 · 15:01</a:t>
            </a:r>
            <a:endParaRPr lang="en-US" sz="750" dirty="0"/>
          </a:p>
        </p:txBody>
      </p:sp>
      <p:pic>
        <p:nvPicPr>
          <p:cNvPr id="12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92661" y="8763000"/>
            <a:ext cx="104775" cy="104775"/>
          </a:xfrm>
          <a:prstGeom prst="rect">
            <a:avLst/>
          </a:prstGeom>
        </p:spPr>
      </p:pic>
      <p:sp>
        <p:nvSpPr>
          <p:cNvPr id="121" name="Text 103"/>
          <p:cNvSpPr/>
          <p:nvPr/>
        </p:nvSpPr>
        <p:spPr>
          <a:xfrm>
            <a:off x="8745061" y="8756963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 dispatch</a:t>
            </a:r>
            <a:endParaRPr lang="en-US" sz="825" dirty="0"/>
          </a:p>
        </p:txBody>
      </p:sp>
      <p:sp>
        <p:nvSpPr>
          <p:cNvPr id="122" name="Shape 104"/>
          <p:cNvSpPr/>
          <p:nvPr/>
        </p:nvSpPr>
        <p:spPr>
          <a:xfrm>
            <a:off x="8592661" y="8959695"/>
            <a:ext cx="5038725" cy="371316"/>
          </a:xfrm>
          <a:prstGeom prst="roundRect">
            <a:avLst>
              <a:gd name="adj" fmla="val 25652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sp>
        <p:nvSpPr>
          <p:cNvPr id="123" name="Text 105"/>
          <p:cNvSpPr/>
          <p:nvPr/>
        </p:nvSpPr>
        <p:spPr>
          <a:xfrm>
            <a:off x="8717598" y="9056056"/>
            <a:ext cx="4940014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jump-started on site. Drive safely — have the battery checked soon.</a:t>
            </a:r>
            <a:endParaRPr lang="en-US" sz="938" dirty="0"/>
          </a:p>
        </p:txBody>
      </p:sp>
      <p:sp>
        <p:nvSpPr>
          <p:cNvPr id="124" name="Shape 106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25" name="Shape 107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126" name="Shape 108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127" name="Text 109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ln/>
          <a:effectLst>
            <a:outerShdw sx="100000" sy="100000" kx="0" ky="0" algn="bl" rotWithShape="0" blurRad="666750" dist="228600" dir="54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609600"/>
            <a:ext cx="14270390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· WEB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979168"/>
            <a:ext cx="14270390" cy="573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12"/>
              </a:lnSpc>
              <a:buNone/>
            </a:pPr>
            <a:r>
              <a:rPr lang="en-US" sz="4050" b="1" spc="-8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triage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647509"/>
            <a:ext cx="1427039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triage cockpit: queue, filters, detail and audit history. Category and status are tappable; the update popup anchors to the status.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524250" y="2339336"/>
            <a:ext cx="11239500" cy="7162800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0" dist="285750" dir="5400000">
              <a:srgbClr val="14171C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34886" y="2349977"/>
            <a:ext cx="11218227" cy="4000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3534886" y="2739391"/>
            <a:ext cx="11218227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9" name="Shape 7"/>
          <p:cNvSpPr/>
          <p:nvPr/>
        </p:nvSpPr>
        <p:spPr>
          <a:xfrm>
            <a:off x="3687286" y="2487457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3877786" y="2487457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68286" y="2487457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4171380" y="2464910"/>
            <a:ext cx="992619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0" kern="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RoadAssist · Dispatcher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534886" y="2750027"/>
            <a:ext cx="800100" cy="6741477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4350" y="2750027"/>
            <a:ext cx="10636" cy="6741477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58089" y="2921477"/>
            <a:ext cx="342900" cy="34290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6" name="Shape 14"/>
          <p:cNvSpPr/>
          <p:nvPr/>
        </p:nvSpPr>
        <p:spPr>
          <a:xfrm>
            <a:off x="3854132" y="3017518"/>
            <a:ext cx="150812" cy="150812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03821" y="3067208"/>
            <a:ext cx="51435" cy="51435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710464" y="3512027"/>
            <a:ext cx="438150" cy="381000"/>
          </a:xfrm>
          <a:prstGeom prst="roundRect">
            <a:avLst>
              <a:gd name="adj" fmla="val 32500"/>
            </a:avLst>
          </a:prstGeom>
          <a:solidFill>
            <a:srgbClr val="FBEDE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764" y="3597752"/>
            <a:ext cx="209550" cy="2095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779202" y="3931127"/>
            <a:ext cx="376714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9C3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788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289" y="8996995"/>
            <a:ext cx="190500" cy="1905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334986" y="2750027"/>
            <a:ext cx="10418127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4334986" y="3310891"/>
            <a:ext cx="10418127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4" name="Text 20"/>
          <p:cNvSpPr/>
          <p:nvPr/>
        </p:nvSpPr>
        <p:spPr>
          <a:xfrm>
            <a:off x="4544536" y="2908139"/>
            <a:ext cx="1207452" cy="28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incidents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809139" y="2917822"/>
            <a:ext cx="1255712" cy="225107"/>
          </a:xfrm>
          <a:prstGeom prst="roundRect">
            <a:avLst>
              <a:gd name="adj" fmla="val 33851"/>
            </a:avLst>
          </a:prstGeom>
          <a:solidFill>
            <a:srgbClr val="F7F8FA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915025" y="2997045"/>
            <a:ext cx="66675" cy="66675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27" name="Text 23"/>
          <p:cNvSpPr/>
          <p:nvPr/>
        </p:nvSpPr>
        <p:spPr>
          <a:xfrm>
            <a:off x="6038850" y="2966563"/>
            <a:ext cx="996315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open · live</a:t>
            </a:r>
            <a:endParaRPr lang="en-US" sz="863" dirty="0"/>
          </a:p>
        </p:txBody>
      </p:sp>
      <p:sp>
        <p:nvSpPr>
          <p:cNvPr id="28" name="Shape 24"/>
          <p:cNvSpPr/>
          <p:nvPr/>
        </p:nvSpPr>
        <p:spPr>
          <a:xfrm>
            <a:off x="13517880" y="2853054"/>
            <a:ext cx="1025684" cy="354647"/>
          </a:xfrm>
          <a:prstGeom prst="roundRect">
            <a:avLst>
              <a:gd name="adj" fmla="val 29543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916" y="2949420"/>
            <a:ext cx="161925" cy="16192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880941" y="2950527"/>
            <a:ext cx="537686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1013" dirty="0"/>
          </a:p>
        </p:txBody>
      </p:sp>
      <p:sp>
        <p:nvSpPr>
          <p:cNvPr id="31" name="Shape 26"/>
          <p:cNvSpPr/>
          <p:nvPr/>
        </p:nvSpPr>
        <p:spPr>
          <a:xfrm>
            <a:off x="4334986" y="3321527"/>
            <a:ext cx="10418127" cy="523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7"/>
          <p:cNvSpPr/>
          <p:nvPr/>
        </p:nvSpPr>
        <p:spPr>
          <a:xfrm>
            <a:off x="4334986" y="3834607"/>
            <a:ext cx="10418127" cy="10636"/>
          </a:xfrm>
          <a:prstGeom prst="rect">
            <a:avLst/>
          </a:prstGeom>
          <a:solidFill>
            <a:srgbClr val="EEF1F4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36" y="3501870"/>
            <a:ext cx="152400" cy="1524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4801711" y="3435827"/>
            <a:ext cx="418147" cy="284480"/>
          </a:xfrm>
          <a:prstGeom prst="roundRect">
            <a:avLst>
              <a:gd name="adj" fmla="val 30134"/>
            </a:avLst>
          </a:prstGeom>
          <a:solidFill>
            <a:srgbClr val="15171C"/>
          </a:solidFill>
          <a:ln w="10636">
            <a:solidFill>
              <a:srgbClr val="15171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936173" y="3503614"/>
            <a:ext cx="225425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38" dirty="0"/>
          </a:p>
        </p:txBody>
      </p:sp>
      <p:sp>
        <p:nvSpPr>
          <p:cNvPr id="36" name="Shape 30"/>
          <p:cNvSpPr/>
          <p:nvPr/>
        </p:nvSpPr>
        <p:spPr>
          <a:xfrm>
            <a:off x="5305584" y="3435827"/>
            <a:ext cx="517843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440045" y="3503614"/>
            <a:ext cx="325120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38" dirty="0"/>
          </a:p>
        </p:txBody>
      </p:sp>
      <p:sp>
        <p:nvSpPr>
          <p:cNvPr id="38" name="Shape 32"/>
          <p:cNvSpPr/>
          <p:nvPr/>
        </p:nvSpPr>
        <p:spPr>
          <a:xfrm>
            <a:off x="5909151" y="3435827"/>
            <a:ext cx="897414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043613" y="3503614"/>
            <a:ext cx="704691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38" dirty="0"/>
          </a:p>
        </p:txBody>
      </p:sp>
      <p:sp>
        <p:nvSpPr>
          <p:cNvPr id="40" name="Shape 34"/>
          <p:cNvSpPr/>
          <p:nvPr/>
        </p:nvSpPr>
        <p:spPr>
          <a:xfrm>
            <a:off x="6892290" y="3435827"/>
            <a:ext cx="732155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026751" y="3503614"/>
            <a:ext cx="539432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</a:t>
            </a:r>
            <a:endParaRPr lang="en-US" sz="938" dirty="0"/>
          </a:p>
        </p:txBody>
      </p:sp>
      <p:sp>
        <p:nvSpPr>
          <p:cNvPr id="42" name="Shape 36"/>
          <p:cNvSpPr/>
          <p:nvPr/>
        </p:nvSpPr>
        <p:spPr>
          <a:xfrm>
            <a:off x="7710170" y="3435827"/>
            <a:ext cx="772319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844631" y="3503614"/>
            <a:ext cx="579596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938" dirty="0"/>
          </a:p>
        </p:txBody>
      </p:sp>
      <p:sp>
        <p:nvSpPr>
          <p:cNvPr id="44" name="Shape 38"/>
          <p:cNvSpPr/>
          <p:nvPr/>
        </p:nvSpPr>
        <p:spPr>
          <a:xfrm>
            <a:off x="8606314" y="3473295"/>
            <a:ext cx="9525" cy="20955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5" name="Shape 39"/>
          <p:cNvSpPr/>
          <p:nvPr/>
        </p:nvSpPr>
        <p:spPr>
          <a:xfrm>
            <a:off x="8739664" y="3435827"/>
            <a:ext cx="1020286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8874125" y="3503614"/>
            <a:ext cx="827564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categories</a:t>
            </a:r>
            <a:endParaRPr lang="en-US" sz="938" dirty="0"/>
          </a:p>
        </p:txBody>
      </p:sp>
      <p:sp>
        <p:nvSpPr>
          <p:cNvPr id="47" name="Shape 41"/>
          <p:cNvSpPr/>
          <p:nvPr/>
        </p:nvSpPr>
        <p:spPr>
          <a:xfrm>
            <a:off x="9845675" y="3435827"/>
            <a:ext cx="755650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980136" y="3503614"/>
            <a:ext cx="562927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938" dirty="0"/>
          </a:p>
        </p:txBody>
      </p:sp>
      <p:sp>
        <p:nvSpPr>
          <p:cNvPr id="49" name="Shape 43"/>
          <p:cNvSpPr/>
          <p:nvPr/>
        </p:nvSpPr>
        <p:spPr>
          <a:xfrm>
            <a:off x="10687050" y="3435827"/>
            <a:ext cx="896620" cy="284480"/>
          </a:xfrm>
          <a:prstGeom prst="roundRect">
            <a:avLst>
              <a:gd name="adj" fmla="val 3013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10821512" y="3503614"/>
            <a:ext cx="703897" cy="187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938" dirty="0"/>
          </a:p>
        </p:txBody>
      </p:sp>
      <p:sp>
        <p:nvSpPr>
          <p:cNvPr id="51" name="Shape 45"/>
          <p:cNvSpPr/>
          <p:nvPr/>
        </p:nvSpPr>
        <p:spPr>
          <a:xfrm>
            <a:off x="4334986" y="3845244"/>
            <a:ext cx="3733800" cy="56462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6"/>
          <p:cNvSpPr/>
          <p:nvPr/>
        </p:nvSpPr>
        <p:spPr>
          <a:xfrm>
            <a:off x="8058150" y="3845244"/>
            <a:ext cx="10636" cy="5646261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53" name="Shape 47"/>
          <p:cNvSpPr/>
          <p:nvPr/>
        </p:nvSpPr>
        <p:spPr>
          <a:xfrm>
            <a:off x="4334986" y="3845244"/>
            <a:ext cx="3723164" cy="1040289"/>
          </a:xfrm>
          <a:prstGeom prst="rect">
            <a:avLst/>
          </a:prstGeom>
          <a:solidFill>
            <a:srgbClr val="FBEDE2"/>
          </a:solidFill>
          <a:ln/>
        </p:spPr>
      </p:sp>
      <p:sp>
        <p:nvSpPr>
          <p:cNvPr id="54" name="Shape 48"/>
          <p:cNvSpPr/>
          <p:nvPr/>
        </p:nvSpPr>
        <p:spPr>
          <a:xfrm>
            <a:off x="4334986" y="4874897"/>
            <a:ext cx="37231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5" name="Shape 49"/>
          <p:cNvSpPr/>
          <p:nvPr/>
        </p:nvSpPr>
        <p:spPr>
          <a:xfrm>
            <a:off x="4487386" y="3969069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874" y="4059557"/>
            <a:ext cx="180975" cy="180975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4973161" y="3969069"/>
            <a:ext cx="60182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1013" dirty="0"/>
          </a:p>
        </p:txBody>
      </p:sp>
      <p:sp>
        <p:nvSpPr>
          <p:cNvPr id="58" name="Text 51"/>
          <p:cNvSpPr/>
          <p:nvPr/>
        </p:nvSpPr>
        <p:spPr>
          <a:xfrm>
            <a:off x="7780020" y="4011616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9m</a:t>
            </a:r>
            <a:endParaRPr lang="en-US" sz="825" dirty="0"/>
          </a:p>
        </p:txBody>
      </p:sp>
      <p:sp>
        <p:nvSpPr>
          <p:cNvPr id="59" name="Text 52"/>
          <p:cNvSpPr/>
          <p:nvPr/>
        </p:nvSpPr>
        <p:spPr>
          <a:xfrm>
            <a:off x="4973161" y="4157188"/>
            <a:ext cx="3020566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collision, two cars, no injuries. Blocking the right lane near the exit.</a:t>
            </a:r>
            <a:endParaRPr lang="en-US" sz="960" dirty="0"/>
          </a:p>
        </p:txBody>
      </p:sp>
      <p:sp>
        <p:nvSpPr>
          <p:cNvPr id="60" name="Shape 53"/>
          <p:cNvSpPr/>
          <p:nvPr/>
        </p:nvSpPr>
        <p:spPr>
          <a:xfrm>
            <a:off x="4973161" y="4574698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61" name="Shape 54"/>
          <p:cNvSpPr/>
          <p:nvPr/>
        </p:nvSpPr>
        <p:spPr>
          <a:xfrm>
            <a:off x="5049361" y="4634229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2" name="Text 55"/>
          <p:cNvSpPr/>
          <p:nvPr/>
        </p:nvSpPr>
        <p:spPr>
          <a:xfrm>
            <a:off x="5163661" y="4593748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328" y="4605654"/>
            <a:ext cx="114300" cy="114300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201728" y="4604389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u-204</a:t>
            </a:r>
            <a:endParaRPr lang="en-US" sz="825" dirty="0"/>
          </a:p>
        </p:txBody>
      </p:sp>
      <p:sp>
        <p:nvSpPr>
          <p:cNvPr id="65" name="Shape 57"/>
          <p:cNvSpPr/>
          <p:nvPr/>
        </p:nvSpPr>
        <p:spPr>
          <a:xfrm>
            <a:off x="4334986" y="4885534"/>
            <a:ext cx="3723164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58"/>
          <p:cNvSpPr/>
          <p:nvPr/>
        </p:nvSpPr>
        <p:spPr>
          <a:xfrm>
            <a:off x="4334986" y="5915187"/>
            <a:ext cx="37231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67" name="Shape 59"/>
          <p:cNvSpPr/>
          <p:nvPr/>
        </p:nvSpPr>
        <p:spPr>
          <a:xfrm>
            <a:off x="4487386" y="5009359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7874" y="5099847"/>
            <a:ext cx="180975" cy="180975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4973161" y="5009359"/>
            <a:ext cx="75406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70" name="Text 61"/>
          <p:cNvSpPr/>
          <p:nvPr/>
        </p:nvSpPr>
        <p:spPr>
          <a:xfrm>
            <a:off x="7717155" y="5051906"/>
            <a:ext cx="26479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12m</a:t>
            </a:r>
            <a:endParaRPr lang="en-US" sz="825" dirty="0"/>
          </a:p>
        </p:txBody>
      </p:sp>
      <p:sp>
        <p:nvSpPr>
          <p:cNvPr id="71" name="Text 62"/>
          <p:cNvSpPr/>
          <p:nvPr/>
        </p:nvSpPr>
        <p:spPr>
          <a:xfrm>
            <a:off x="4973161" y="5197478"/>
            <a:ext cx="3020566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won't start, smoke from under the hood. Hard shoulder.</a:t>
            </a:r>
            <a:endParaRPr lang="en-US" sz="960" dirty="0"/>
          </a:p>
        </p:txBody>
      </p:sp>
      <p:sp>
        <p:nvSpPr>
          <p:cNvPr id="72" name="Shape 63"/>
          <p:cNvSpPr/>
          <p:nvPr/>
        </p:nvSpPr>
        <p:spPr>
          <a:xfrm>
            <a:off x="4973161" y="5614988"/>
            <a:ext cx="461486" cy="176371"/>
          </a:xfrm>
          <a:prstGeom prst="roundRect">
            <a:avLst>
              <a:gd name="adj" fmla="val 37804"/>
            </a:avLst>
          </a:prstGeom>
          <a:solidFill>
            <a:srgbClr val="E8EFFE"/>
          </a:solidFill>
          <a:ln/>
        </p:spPr>
      </p:sp>
      <p:sp>
        <p:nvSpPr>
          <p:cNvPr id="73" name="Shape 64"/>
          <p:cNvSpPr/>
          <p:nvPr/>
        </p:nvSpPr>
        <p:spPr>
          <a:xfrm>
            <a:off x="5049361" y="5674519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4" name="Text 65"/>
          <p:cNvSpPr/>
          <p:nvPr/>
        </p:nvSpPr>
        <p:spPr>
          <a:xfrm>
            <a:off x="5163661" y="5634038"/>
            <a:ext cx="27098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825" dirty="0"/>
          </a:p>
        </p:txBody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9898" y="5645944"/>
            <a:ext cx="114300" cy="114300"/>
          </a:xfrm>
          <a:prstGeom prst="rect">
            <a:avLst/>
          </a:prstGeom>
        </p:spPr>
      </p:pic>
      <p:sp>
        <p:nvSpPr>
          <p:cNvPr id="76" name="Text 66"/>
          <p:cNvSpPr/>
          <p:nvPr/>
        </p:nvSpPr>
        <p:spPr>
          <a:xfrm>
            <a:off x="5682298" y="5644669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u-118</a:t>
            </a:r>
            <a:endParaRPr lang="en-US" sz="825" dirty="0"/>
          </a:p>
        </p:txBody>
      </p:sp>
      <p:sp>
        <p:nvSpPr>
          <p:cNvPr id="77" name="Shape 67"/>
          <p:cNvSpPr/>
          <p:nvPr/>
        </p:nvSpPr>
        <p:spPr>
          <a:xfrm>
            <a:off x="4334986" y="5925824"/>
            <a:ext cx="3723164" cy="869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68"/>
          <p:cNvSpPr/>
          <p:nvPr/>
        </p:nvSpPr>
        <p:spPr>
          <a:xfrm>
            <a:off x="4334986" y="6784821"/>
            <a:ext cx="37231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9" name="Shape 69"/>
          <p:cNvSpPr/>
          <p:nvPr/>
        </p:nvSpPr>
        <p:spPr>
          <a:xfrm>
            <a:off x="4487386" y="6049649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7874" y="6140137"/>
            <a:ext cx="180975" cy="180975"/>
          </a:xfrm>
          <a:prstGeom prst="rect">
            <a:avLst/>
          </a:prstGeom>
        </p:spPr>
      </p:pic>
      <p:sp>
        <p:nvSpPr>
          <p:cNvPr id="81" name="Text 70"/>
          <p:cNvSpPr/>
          <p:nvPr/>
        </p:nvSpPr>
        <p:spPr>
          <a:xfrm>
            <a:off x="4973161" y="6049649"/>
            <a:ext cx="77978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</a:t>
            </a:r>
            <a:endParaRPr lang="en-US" sz="1013" dirty="0"/>
          </a:p>
        </p:txBody>
      </p:sp>
      <p:sp>
        <p:nvSpPr>
          <p:cNvPr id="82" name="Text 71"/>
          <p:cNvSpPr/>
          <p:nvPr/>
        </p:nvSpPr>
        <p:spPr>
          <a:xfrm>
            <a:off x="7717155" y="6092186"/>
            <a:ext cx="26479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26m</a:t>
            </a:r>
            <a:endParaRPr lang="en-US" sz="825" dirty="0"/>
          </a:p>
        </p:txBody>
      </p:sp>
      <p:sp>
        <p:nvSpPr>
          <p:cNvPr id="83" name="Text 72"/>
          <p:cNvSpPr/>
          <p:nvPr/>
        </p:nvSpPr>
        <p:spPr>
          <a:xfrm>
            <a:off x="4973161" y="6237768"/>
            <a:ext cx="3020566" cy="208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branch across the carriageway after the storm.</a:t>
            </a:r>
            <a:endParaRPr lang="en-US" sz="960" dirty="0"/>
          </a:p>
        </p:txBody>
      </p:sp>
      <p:sp>
        <p:nvSpPr>
          <p:cNvPr id="84" name="Shape 73"/>
          <p:cNvSpPr/>
          <p:nvPr/>
        </p:nvSpPr>
        <p:spPr>
          <a:xfrm>
            <a:off x="4973161" y="6484618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85" name="Shape 74"/>
          <p:cNvSpPr/>
          <p:nvPr/>
        </p:nvSpPr>
        <p:spPr>
          <a:xfrm>
            <a:off x="5049361" y="6544149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86" name="Text 75"/>
          <p:cNvSpPr/>
          <p:nvPr/>
        </p:nvSpPr>
        <p:spPr>
          <a:xfrm>
            <a:off x="5163661" y="6503668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pic>
        <p:nvPicPr>
          <p:cNvPr id="8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9328" y="6515574"/>
            <a:ext cx="114300" cy="114300"/>
          </a:xfrm>
          <a:prstGeom prst="rect">
            <a:avLst/>
          </a:prstGeom>
        </p:spPr>
      </p:pic>
      <p:sp>
        <p:nvSpPr>
          <p:cNvPr id="88" name="Text 76"/>
          <p:cNvSpPr/>
          <p:nvPr/>
        </p:nvSpPr>
        <p:spPr>
          <a:xfrm>
            <a:off x="6201728" y="6514309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u-077</a:t>
            </a:r>
            <a:endParaRPr lang="en-US" sz="825" dirty="0"/>
          </a:p>
        </p:txBody>
      </p:sp>
      <p:sp>
        <p:nvSpPr>
          <p:cNvPr id="89" name="Shape 77"/>
          <p:cNvSpPr/>
          <p:nvPr/>
        </p:nvSpPr>
        <p:spPr>
          <a:xfrm>
            <a:off x="4334986" y="6795455"/>
            <a:ext cx="3723164" cy="1040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78"/>
          <p:cNvSpPr/>
          <p:nvPr/>
        </p:nvSpPr>
        <p:spPr>
          <a:xfrm>
            <a:off x="4334986" y="7825107"/>
            <a:ext cx="3723164" cy="10636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91" name="Shape 79"/>
          <p:cNvSpPr/>
          <p:nvPr/>
        </p:nvSpPr>
        <p:spPr>
          <a:xfrm>
            <a:off x="4487386" y="6919280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9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7874" y="7009767"/>
            <a:ext cx="180975" cy="180975"/>
          </a:xfrm>
          <a:prstGeom prst="rect">
            <a:avLst/>
          </a:prstGeom>
        </p:spPr>
      </p:pic>
      <p:sp>
        <p:nvSpPr>
          <p:cNvPr id="93" name="Text 80"/>
          <p:cNvSpPr/>
          <p:nvPr/>
        </p:nvSpPr>
        <p:spPr>
          <a:xfrm>
            <a:off x="4973161" y="6919280"/>
            <a:ext cx="75406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013" dirty="0"/>
          </a:p>
        </p:txBody>
      </p:sp>
      <p:sp>
        <p:nvSpPr>
          <p:cNvPr id="94" name="Text 81"/>
          <p:cNvSpPr/>
          <p:nvPr/>
        </p:nvSpPr>
        <p:spPr>
          <a:xfrm>
            <a:off x="7717155" y="6961826"/>
            <a:ext cx="26479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41m</a:t>
            </a:r>
            <a:endParaRPr lang="en-US" sz="825" dirty="0"/>
          </a:p>
        </p:txBody>
      </p:sp>
      <p:sp>
        <p:nvSpPr>
          <p:cNvPr id="95" name="Text 82"/>
          <p:cNvSpPr/>
          <p:nvPr/>
        </p:nvSpPr>
        <p:spPr>
          <a:xfrm>
            <a:off x="4973161" y="7107399"/>
            <a:ext cx="3020566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tyre, no spare. Front passenger side, on the verge.</a:t>
            </a:r>
            <a:endParaRPr lang="en-US" sz="960" dirty="0"/>
          </a:p>
        </p:txBody>
      </p:sp>
      <p:sp>
        <p:nvSpPr>
          <p:cNvPr id="96" name="Shape 83"/>
          <p:cNvSpPr/>
          <p:nvPr/>
        </p:nvSpPr>
        <p:spPr>
          <a:xfrm>
            <a:off x="4973161" y="7524908"/>
            <a:ext cx="786130" cy="176371"/>
          </a:xfrm>
          <a:prstGeom prst="roundRect">
            <a:avLst>
              <a:gd name="adj" fmla="val 37804"/>
            </a:avLst>
          </a:prstGeom>
          <a:solidFill>
            <a:srgbClr val="F0E9FD"/>
          </a:solidFill>
          <a:ln/>
        </p:spPr>
      </p:sp>
      <p:sp>
        <p:nvSpPr>
          <p:cNvPr id="97" name="Shape 84"/>
          <p:cNvSpPr/>
          <p:nvPr/>
        </p:nvSpPr>
        <p:spPr>
          <a:xfrm>
            <a:off x="5049361" y="7584439"/>
            <a:ext cx="57150" cy="571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8" name="Text 85"/>
          <p:cNvSpPr/>
          <p:nvPr/>
        </p:nvSpPr>
        <p:spPr>
          <a:xfrm>
            <a:off x="5163661" y="7543958"/>
            <a:ext cx="595630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ROUTE</a:t>
            </a:r>
            <a:endParaRPr lang="en-US" sz="825" dirty="0"/>
          </a:p>
        </p:txBody>
      </p:sp>
      <p:pic>
        <p:nvPicPr>
          <p:cNvPr id="9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4541" y="7555864"/>
            <a:ext cx="114300" cy="114300"/>
          </a:xfrm>
          <a:prstGeom prst="rect">
            <a:avLst/>
          </a:prstGeom>
        </p:spPr>
      </p:pic>
      <p:sp>
        <p:nvSpPr>
          <p:cNvPr id="100" name="Text 86"/>
          <p:cNvSpPr/>
          <p:nvPr/>
        </p:nvSpPr>
        <p:spPr>
          <a:xfrm>
            <a:off x="6006941" y="7554599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u-203</a:t>
            </a:r>
            <a:endParaRPr lang="en-US" sz="825" dirty="0"/>
          </a:p>
        </p:txBody>
      </p:sp>
      <p:sp>
        <p:nvSpPr>
          <p:cNvPr id="101" name="Shape 87"/>
          <p:cNvSpPr/>
          <p:nvPr/>
        </p:nvSpPr>
        <p:spPr>
          <a:xfrm>
            <a:off x="4334986" y="7835745"/>
            <a:ext cx="3723164" cy="10296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88"/>
          <p:cNvSpPr/>
          <p:nvPr/>
        </p:nvSpPr>
        <p:spPr>
          <a:xfrm>
            <a:off x="4487386" y="7959570"/>
            <a:ext cx="361950" cy="361950"/>
          </a:xfrm>
          <a:prstGeom prst="roundRect">
            <a:avLst>
              <a:gd name="adj" fmla="val 28000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10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7874" y="8050057"/>
            <a:ext cx="180975" cy="180975"/>
          </a:xfrm>
          <a:prstGeom prst="rect">
            <a:avLst/>
          </a:prstGeom>
        </p:spPr>
      </p:pic>
      <p:sp>
        <p:nvSpPr>
          <p:cNvPr id="104" name="Text 89"/>
          <p:cNvSpPr/>
          <p:nvPr/>
        </p:nvSpPr>
        <p:spPr>
          <a:xfrm>
            <a:off x="4973161" y="7959570"/>
            <a:ext cx="41370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013" dirty="0"/>
          </a:p>
        </p:txBody>
      </p:sp>
      <p:sp>
        <p:nvSpPr>
          <p:cNvPr id="105" name="Text 90"/>
          <p:cNvSpPr/>
          <p:nvPr/>
        </p:nvSpPr>
        <p:spPr>
          <a:xfrm>
            <a:off x="7780020" y="8002107"/>
            <a:ext cx="20193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</a:t>
            </a:r>
            <a:endParaRPr lang="en-US" sz="825" dirty="0"/>
          </a:p>
        </p:txBody>
      </p:sp>
      <p:sp>
        <p:nvSpPr>
          <p:cNvPr id="106" name="Text 91"/>
          <p:cNvSpPr/>
          <p:nvPr/>
        </p:nvSpPr>
        <p:spPr>
          <a:xfrm>
            <a:off x="4973161" y="8147689"/>
            <a:ext cx="3020566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74"/>
              </a:lnSpc>
              <a:buNone/>
            </a:pPr>
            <a:r>
              <a:rPr lang="en-US" sz="960" dirty="0">
                <a:solidFill>
                  <a:srgbClr val="64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out of fuel on the ring road, stopped in the emergency lane.</a:t>
            </a:r>
            <a:endParaRPr lang="en-US" sz="960" dirty="0"/>
          </a:p>
        </p:txBody>
      </p:sp>
      <p:sp>
        <p:nvSpPr>
          <p:cNvPr id="107" name="Shape 92"/>
          <p:cNvSpPr/>
          <p:nvPr/>
        </p:nvSpPr>
        <p:spPr>
          <a:xfrm>
            <a:off x="4973161" y="8565198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108" name="Shape 93"/>
          <p:cNvSpPr/>
          <p:nvPr/>
        </p:nvSpPr>
        <p:spPr>
          <a:xfrm>
            <a:off x="5049361" y="8624729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09" name="Text 94"/>
          <p:cNvSpPr/>
          <p:nvPr/>
        </p:nvSpPr>
        <p:spPr>
          <a:xfrm>
            <a:off x="5163661" y="8584248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pic>
        <p:nvPicPr>
          <p:cNvPr id="11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49328" y="8596154"/>
            <a:ext cx="114300" cy="114300"/>
          </a:xfrm>
          <a:prstGeom prst="rect">
            <a:avLst/>
          </a:prstGeom>
        </p:spPr>
      </p:pic>
      <p:sp>
        <p:nvSpPr>
          <p:cNvPr id="111" name="Text 95"/>
          <p:cNvSpPr/>
          <p:nvPr/>
        </p:nvSpPr>
        <p:spPr>
          <a:xfrm>
            <a:off x="6201728" y="8594880"/>
            <a:ext cx="39052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u-061</a:t>
            </a:r>
            <a:endParaRPr lang="en-US" sz="825" dirty="0"/>
          </a:p>
        </p:txBody>
      </p:sp>
      <p:sp>
        <p:nvSpPr>
          <p:cNvPr id="112" name="Shape 96"/>
          <p:cNvSpPr/>
          <p:nvPr/>
        </p:nvSpPr>
        <p:spPr>
          <a:xfrm>
            <a:off x="8068786" y="3845244"/>
            <a:ext cx="6684327" cy="5646261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3" name="Text 97"/>
          <p:cNvSpPr/>
          <p:nvPr/>
        </p:nvSpPr>
        <p:spPr>
          <a:xfrm>
            <a:off x="8392636" y="4092894"/>
            <a:ext cx="5219319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· u-204</a:t>
            </a:r>
            <a:endParaRPr lang="en-US" sz="1350" dirty="0"/>
          </a:p>
        </p:txBody>
      </p:sp>
      <p:sp>
        <p:nvSpPr>
          <p:cNvPr id="114" name="Text 98"/>
          <p:cNvSpPr/>
          <p:nvPr/>
        </p:nvSpPr>
        <p:spPr>
          <a:xfrm>
            <a:off x="8392636" y="4344832"/>
            <a:ext cx="5219319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 9m ago · #RA-4821 · tap the category or status to change it</a:t>
            </a:r>
            <a:endParaRPr lang="en-US" sz="863" dirty="0"/>
          </a:p>
        </p:txBody>
      </p:sp>
      <p:sp>
        <p:nvSpPr>
          <p:cNvPr id="115" name="Shape 99"/>
          <p:cNvSpPr/>
          <p:nvPr/>
        </p:nvSpPr>
        <p:spPr>
          <a:xfrm>
            <a:off x="8392636" y="4643912"/>
            <a:ext cx="1098550" cy="265430"/>
          </a:xfrm>
          <a:prstGeom prst="roundRect">
            <a:avLst>
              <a:gd name="adj" fmla="val 28708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pic>
        <p:nvPicPr>
          <p:cNvPr id="1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8997" y="4705192"/>
            <a:ext cx="142875" cy="142875"/>
          </a:xfrm>
          <a:prstGeom prst="rect">
            <a:avLst/>
          </a:prstGeom>
        </p:spPr>
      </p:pic>
      <p:sp>
        <p:nvSpPr>
          <p:cNvPr id="117" name="Text 100"/>
          <p:cNvSpPr/>
          <p:nvPr/>
        </p:nvSpPr>
        <p:spPr>
          <a:xfrm>
            <a:off x="8698547" y="4702178"/>
            <a:ext cx="5629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938" dirty="0"/>
          </a:p>
        </p:txBody>
      </p:sp>
      <p:pic>
        <p:nvPicPr>
          <p:cNvPr id="11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1475" y="4705192"/>
            <a:ext cx="142875" cy="142875"/>
          </a:xfrm>
          <a:prstGeom prst="rect">
            <a:avLst/>
          </a:prstGeom>
        </p:spPr>
      </p:pic>
      <p:sp>
        <p:nvSpPr>
          <p:cNvPr id="119" name="Shape 101"/>
          <p:cNvSpPr/>
          <p:nvPr/>
        </p:nvSpPr>
        <p:spPr>
          <a:xfrm>
            <a:off x="12135962" y="4643912"/>
            <a:ext cx="1323975" cy="265430"/>
          </a:xfrm>
          <a:prstGeom prst="roundRect">
            <a:avLst>
              <a:gd name="adj" fmla="val 32297"/>
            </a:avLst>
          </a:prstGeom>
          <a:solidFill>
            <a:srgbClr val="FBF0D9"/>
          </a:solidFill>
          <a:ln w="10636">
            <a:solidFill>
              <a:srgbClr val="B7791F">
                <a:alpha val="25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14171C">
                <a:alpha val="6000"/>
              </a:srgbClr>
            </a:outerShdw>
          </a:effectLst>
        </p:spPr>
      </p:sp>
      <p:sp>
        <p:nvSpPr>
          <p:cNvPr id="120" name="Shape 102"/>
          <p:cNvSpPr/>
          <p:nvPr/>
        </p:nvSpPr>
        <p:spPr>
          <a:xfrm>
            <a:off x="12251372" y="4748054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1" name="Text 103"/>
          <p:cNvSpPr/>
          <p:nvPr/>
        </p:nvSpPr>
        <p:spPr>
          <a:xfrm>
            <a:off x="12375197" y="4702178"/>
            <a:ext cx="855027" cy="18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18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900" dirty="0"/>
          </a:p>
        </p:txBody>
      </p:sp>
      <p:pic>
        <p:nvPicPr>
          <p:cNvPr id="12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30225" y="4705192"/>
            <a:ext cx="142875" cy="142875"/>
          </a:xfrm>
          <a:prstGeom prst="rect">
            <a:avLst/>
          </a:prstGeom>
        </p:spPr>
      </p:pic>
      <p:sp>
        <p:nvSpPr>
          <p:cNvPr id="123" name="Text 104"/>
          <p:cNvSpPr/>
          <p:nvPr/>
        </p:nvSpPr>
        <p:spPr>
          <a:xfrm>
            <a:off x="8392636" y="5061747"/>
            <a:ext cx="5219319" cy="46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43"/>
              </a:lnSpc>
              <a:buNone/>
            </a:pPr>
            <a:r>
              <a:rPr lang="en-US" sz="108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collision between two cars on the exit ramp. No injuries reported. The right lane is partially blocked and traffic is building up behind the incident.</a:t>
            </a:r>
            <a:endParaRPr lang="en-US" sz="1088" dirty="0"/>
          </a:p>
        </p:txBody>
      </p:sp>
      <p:sp>
        <p:nvSpPr>
          <p:cNvPr id="124" name="Shape 105"/>
          <p:cNvSpPr/>
          <p:nvPr/>
        </p:nvSpPr>
        <p:spPr>
          <a:xfrm>
            <a:off x="8392636" y="5661180"/>
            <a:ext cx="5067300" cy="1390650"/>
          </a:xfrm>
          <a:prstGeom prst="roundRect">
            <a:avLst>
              <a:gd name="adj" fmla="val 8219"/>
            </a:avLst>
          </a:prstGeom>
          <a:solidFill>
            <a:srgbClr val="C6CDD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125" name="Shape 106"/>
          <p:cNvSpPr/>
          <p:nvPr/>
        </p:nvSpPr>
        <p:spPr>
          <a:xfrm>
            <a:off x="8392636" y="7223280"/>
            <a:ext cx="5067300" cy="502920"/>
          </a:xfrm>
          <a:prstGeom prst="roundRect">
            <a:avLst>
              <a:gd name="adj" fmla="val 22727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pic>
        <p:nvPicPr>
          <p:cNvPr id="12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7097" y="7389019"/>
            <a:ext cx="171450" cy="171450"/>
          </a:xfrm>
          <a:prstGeom prst="rect">
            <a:avLst/>
          </a:prstGeom>
        </p:spPr>
      </p:pic>
      <p:sp>
        <p:nvSpPr>
          <p:cNvPr id="127" name="Text 107"/>
          <p:cNvSpPr/>
          <p:nvPr/>
        </p:nvSpPr>
        <p:spPr>
          <a:xfrm>
            <a:off x="8793797" y="7348221"/>
            <a:ext cx="1147763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750" dirty="0"/>
          </a:p>
        </p:txBody>
      </p:sp>
      <p:sp>
        <p:nvSpPr>
          <p:cNvPr id="128" name="Text 108"/>
          <p:cNvSpPr/>
          <p:nvPr/>
        </p:nvSpPr>
        <p:spPr>
          <a:xfrm>
            <a:off x="8793797" y="7473637"/>
            <a:ext cx="1147763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5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52.1009, 5.1758</a:t>
            </a:r>
            <a:endParaRPr lang="en-US" sz="938" dirty="0"/>
          </a:p>
        </p:txBody>
      </p:sp>
      <p:sp>
        <p:nvSpPr>
          <p:cNvPr id="129" name="Shape 109"/>
          <p:cNvSpPr/>
          <p:nvPr/>
        </p:nvSpPr>
        <p:spPr>
          <a:xfrm>
            <a:off x="8392636" y="7859557"/>
            <a:ext cx="5067300" cy="584359"/>
          </a:xfrm>
          <a:prstGeom prst="roundRect">
            <a:avLst>
              <a:gd name="adj" fmla="val 19560"/>
            </a:avLst>
          </a:prstGeom>
          <a:solidFill>
            <a:srgbClr val="FBEDE2"/>
          </a:solidFill>
          <a:ln w="10636">
            <a:solidFill>
              <a:srgbClr val="F3D8C2"/>
            </a:solidFill>
            <a:prstDash val="solid"/>
          </a:ln>
        </p:spPr>
      </p:sp>
      <p:sp>
        <p:nvSpPr>
          <p:cNvPr id="130" name="Text 110"/>
          <p:cNvSpPr/>
          <p:nvPr/>
        </p:nvSpPr>
        <p:spPr>
          <a:xfrm>
            <a:off x="8536622" y="7984489"/>
            <a:ext cx="4922707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8" kern="0" dirty="0">
                <a:solidFill>
                  <a:srgbClr val="9C3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NOTE</a:t>
            </a:r>
            <a:endParaRPr lang="en-US" sz="750" dirty="0"/>
          </a:p>
        </p:txBody>
      </p:sp>
      <p:sp>
        <p:nvSpPr>
          <p:cNvPr id="131" name="Text 111"/>
          <p:cNvSpPr/>
          <p:nvPr/>
        </p:nvSpPr>
        <p:spPr>
          <a:xfrm>
            <a:off x="8536622" y="8128955"/>
            <a:ext cx="4922707" cy="22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patrol unit has been notified and is being assigned.</a:t>
            </a:r>
            <a:endParaRPr lang="en-US" sz="998" dirty="0"/>
          </a:p>
        </p:txBody>
      </p:sp>
      <p:sp>
        <p:nvSpPr>
          <p:cNvPr id="132" name="Shape 112"/>
          <p:cNvSpPr/>
          <p:nvPr/>
        </p:nvSpPr>
        <p:spPr>
          <a:xfrm>
            <a:off x="8392636" y="8672513"/>
            <a:ext cx="5067300" cy="9525"/>
          </a:xfrm>
          <a:prstGeom prst="rect">
            <a:avLst/>
          </a:prstGeom>
          <a:solidFill>
            <a:srgbClr val="E4E7EC"/>
          </a:solidFill>
          <a:ln/>
        </p:spPr>
      </p:sp>
      <p:pic>
        <p:nvPicPr>
          <p:cNvPr id="13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92636" y="8927306"/>
            <a:ext cx="142875" cy="142875"/>
          </a:xfrm>
          <a:prstGeom prst="rect">
            <a:avLst/>
          </a:prstGeom>
        </p:spPr>
      </p:pic>
      <p:sp>
        <p:nvSpPr>
          <p:cNvPr id="134" name="Text 113"/>
          <p:cNvSpPr/>
          <p:nvPr/>
        </p:nvSpPr>
        <p:spPr>
          <a:xfrm>
            <a:off x="8611711" y="8913651"/>
            <a:ext cx="4241841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11" kern="0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history</a:t>
            </a:r>
            <a:endParaRPr lang="en-US" sz="1050" dirty="0"/>
          </a:p>
        </p:txBody>
      </p:sp>
      <p:sp>
        <p:nvSpPr>
          <p:cNvPr id="135" name="Shape 114"/>
          <p:cNvSpPr/>
          <p:nvPr/>
        </p:nvSpPr>
        <p:spPr>
          <a:xfrm>
            <a:off x="12806203" y="8910638"/>
            <a:ext cx="653732" cy="176371"/>
          </a:xfrm>
          <a:prstGeom prst="roundRect">
            <a:avLst>
              <a:gd name="adj" fmla="val 37804"/>
            </a:avLst>
          </a:prstGeom>
          <a:solidFill>
            <a:srgbClr val="F1F3F6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136" name="Text 115"/>
          <p:cNvSpPr/>
          <p:nvPr/>
        </p:nvSpPr>
        <p:spPr>
          <a:xfrm>
            <a:off x="12893040" y="8940324"/>
            <a:ext cx="556260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highlight>
                  <a:srgbClr val="F1F3F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788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788" dirty="0"/>
          </a:p>
        </p:txBody>
      </p:sp>
      <p:sp>
        <p:nvSpPr>
          <p:cNvPr id="137" name="Shape 116"/>
          <p:cNvSpPr/>
          <p:nvPr/>
        </p:nvSpPr>
        <p:spPr>
          <a:xfrm>
            <a:off x="8468836" y="9401333"/>
            <a:ext cx="19050" cy="800259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38" name="Shape 117"/>
          <p:cNvSpPr/>
          <p:nvPr/>
        </p:nvSpPr>
        <p:spPr>
          <a:xfrm>
            <a:off x="8392636" y="9248933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E0590B"/>
            </a:solidFill>
            <a:prstDash val="solid"/>
          </a:ln>
        </p:spPr>
      </p:sp>
      <p:pic>
        <p:nvPicPr>
          <p:cNvPr id="13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5499" y="9291796"/>
            <a:ext cx="85725" cy="85725"/>
          </a:xfrm>
          <a:prstGeom prst="rect">
            <a:avLst/>
          </a:prstGeom>
        </p:spPr>
      </p:pic>
      <p:sp>
        <p:nvSpPr>
          <p:cNvPr id="140" name="Text 118"/>
          <p:cNvSpPr/>
          <p:nvPr/>
        </p:nvSpPr>
        <p:spPr>
          <a:xfrm>
            <a:off x="8687911" y="9229883"/>
            <a:ext cx="109029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reported</a:t>
            </a:r>
            <a:endParaRPr lang="en-US" sz="975" dirty="0"/>
          </a:p>
        </p:txBody>
      </p:sp>
      <p:sp>
        <p:nvSpPr>
          <p:cNvPr id="141" name="Text 119"/>
          <p:cNvSpPr/>
          <p:nvPr/>
        </p:nvSpPr>
        <p:spPr>
          <a:xfrm>
            <a:off x="13174187" y="9283061"/>
            <a:ext cx="361950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10:32</a:t>
            </a:r>
            <a:endParaRPr lang="en-US" sz="750" dirty="0"/>
          </a:p>
        </p:txBody>
      </p:sp>
      <p:pic>
        <p:nvPicPr>
          <p:cNvPr id="1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87911" y="9424039"/>
            <a:ext cx="104775" cy="104775"/>
          </a:xfrm>
          <a:prstGeom prst="rect">
            <a:avLst/>
          </a:prstGeom>
        </p:spPr>
      </p:pic>
      <p:sp>
        <p:nvSpPr>
          <p:cNvPr id="143" name="Text 120"/>
          <p:cNvSpPr/>
          <p:nvPr/>
        </p:nvSpPr>
        <p:spPr>
          <a:xfrm>
            <a:off x="8840311" y="9418002"/>
            <a:ext cx="114490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u-204 · road user</a:t>
            </a:r>
            <a:endParaRPr lang="en-US" sz="825" dirty="0"/>
          </a:p>
        </p:txBody>
      </p:sp>
      <p:sp>
        <p:nvSpPr>
          <p:cNvPr id="144" name="Shape 121"/>
          <p:cNvSpPr/>
          <p:nvPr/>
        </p:nvSpPr>
        <p:spPr>
          <a:xfrm>
            <a:off x="8687911" y="9620724"/>
            <a:ext cx="4772025" cy="371316"/>
          </a:xfrm>
          <a:prstGeom prst="roundRect">
            <a:avLst>
              <a:gd name="adj" fmla="val 25652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sp>
        <p:nvSpPr>
          <p:cNvPr id="145" name="Text 122"/>
          <p:cNvSpPr/>
          <p:nvPr/>
        </p:nvSpPr>
        <p:spPr>
          <a:xfrm>
            <a:off x="8812848" y="9717086"/>
            <a:ext cx="466531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with photo and GPS location.</a:t>
            </a:r>
            <a:endParaRPr lang="en-US" sz="938" dirty="0"/>
          </a:p>
        </p:txBody>
      </p:sp>
      <p:sp>
        <p:nvSpPr>
          <p:cNvPr id="146" name="Shape 123"/>
          <p:cNvSpPr/>
          <p:nvPr/>
        </p:nvSpPr>
        <p:spPr>
          <a:xfrm>
            <a:off x="8468836" y="10334941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47" name="Shape 124"/>
          <p:cNvSpPr/>
          <p:nvPr/>
        </p:nvSpPr>
        <p:spPr>
          <a:xfrm>
            <a:off x="8392636" y="10182541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2563EB"/>
            </a:solidFill>
            <a:prstDash val="solid"/>
          </a:ln>
        </p:spPr>
      </p:sp>
      <p:sp>
        <p:nvSpPr>
          <p:cNvPr id="148" name="Shape 125"/>
          <p:cNvSpPr/>
          <p:nvPr/>
        </p:nvSpPr>
        <p:spPr>
          <a:xfrm>
            <a:off x="8449786" y="10239691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9" name="Text 126"/>
          <p:cNvSpPr/>
          <p:nvPr/>
        </p:nvSpPr>
        <p:spPr>
          <a:xfrm>
            <a:off x="8687911" y="10171909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150" name="Shape 127"/>
          <p:cNvSpPr/>
          <p:nvPr/>
        </p:nvSpPr>
        <p:spPr>
          <a:xfrm>
            <a:off x="9653111" y="10163491"/>
            <a:ext cx="461486" cy="176371"/>
          </a:xfrm>
          <a:prstGeom prst="roundRect">
            <a:avLst>
              <a:gd name="adj" fmla="val 37804"/>
            </a:avLst>
          </a:prstGeom>
          <a:solidFill>
            <a:srgbClr val="E8EFFE"/>
          </a:solidFill>
          <a:ln/>
        </p:spPr>
      </p:sp>
      <p:sp>
        <p:nvSpPr>
          <p:cNvPr id="151" name="Shape 128"/>
          <p:cNvSpPr/>
          <p:nvPr/>
        </p:nvSpPr>
        <p:spPr>
          <a:xfrm>
            <a:off x="9729311" y="10223023"/>
            <a:ext cx="57150" cy="571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2" name="Text 129"/>
          <p:cNvSpPr/>
          <p:nvPr/>
        </p:nvSpPr>
        <p:spPr>
          <a:xfrm>
            <a:off x="9843611" y="10182541"/>
            <a:ext cx="27098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825" dirty="0"/>
          </a:p>
        </p:txBody>
      </p:sp>
      <p:sp>
        <p:nvSpPr>
          <p:cNvPr id="153" name="Text 130"/>
          <p:cNvSpPr/>
          <p:nvPr/>
        </p:nvSpPr>
        <p:spPr>
          <a:xfrm>
            <a:off x="13174187" y="10225088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10:32</a:t>
            </a:r>
            <a:endParaRPr lang="en-US" sz="750" dirty="0"/>
          </a:p>
        </p:txBody>
      </p:sp>
      <p:pic>
        <p:nvPicPr>
          <p:cNvPr id="15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87911" y="10374474"/>
            <a:ext cx="104775" cy="104775"/>
          </a:xfrm>
          <a:prstGeom prst="rect">
            <a:avLst/>
          </a:prstGeom>
        </p:spPr>
      </p:pic>
      <p:sp>
        <p:nvSpPr>
          <p:cNvPr id="155" name="Text 131"/>
          <p:cNvSpPr/>
          <p:nvPr/>
        </p:nvSpPr>
        <p:spPr>
          <a:xfrm>
            <a:off x="8840311" y="10368437"/>
            <a:ext cx="453390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825" dirty="0"/>
          </a:p>
        </p:txBody>
      </p:sp>
      <p:sp>
        <p:nvSpPr>
          <p:cNvPr id="156" name="Shape 132"/>
          <p:cNvSpPr/>
          <p:nvPr/>
        </p:nvSpPr>
        <p:spPr>
          <a:xfrm>
            <a:off x="8468836" y="10828334"/>
            <a:ext cx="19050" cy="360045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7" name="Shape 133"/>
          <p:cNvSpPr/>
          <p:nvPr/>
        </p:nvSpPr>
        <p:spPr>
          <a:xfrm>
            <a:off x="8392636" y="10675934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B7791F"/>
            </a:solidFill>
            <a:prstDash val="solid"/>
          </a:ln>
        </p:spPr>
      </p:sp>
      <p:sp>
        <p:nvSpPr>
          <p:cNvPr id="158" name="Shape 134"/>
          <p:cNvSpPr/>
          <p:nvPr/>
        </p:nvSpPr>
        <p:spPr>
          <a:xfrm>
            <a:off x="8449786" y="10733084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59" name="Text 135"/>
          <p:cNvSpPr/>
          <p:nvPr/>
        </p:nvSpPr>
        <p:spPr>
          <a:xfrm>
            <a:off x="8687911" y="10665302"/>
            <a:ext cx="96520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changed</a:t>
            </a:r>
            <a:endParaRPr lang="en-US" sz="975" dirty="0"/>
          </a:p>
        </p:txBody>
      </p:sp>
      <p:sp>
        <p:nvSpPr>
          <p:cNvPr id="160" name="Shape 136"/>
          <p:cNvSpPr/>
          <p:nvPr/>
        </p:nvSpPr>
        <p:spPr>
          <a:xfrm>
            <a:off x="9653111" y="10656884"/>
            <a:ext cx="980916" cy="176371"/>
          </a:xfrm>
          <a:prstGeom prst="roundRect">
            <a:avLst>
              <a:gd name="adj" fmla="val 37804"/>
            </a:avLst>
          </a:prstGeom>
          <a:solidFill>
            <a:srgbClr val="FBF0D9"/>
          </a:solidFill>
          <a:ln/>
        </p:spPr>
      </p:sp>
      <p:sp>
        <p:nvSpPr>
          <p:cNvPr id="161" name="Shape 137"/>
          <p:cNvSpPr/>
          <p:nvPr/>
        </p:nvSpPr>
        <p:spPr>
          <a:xfrm>
            <a:off x="9729311" y="10716416"/>
            <a:ext cx="57150" cy="5715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62" name="Text 138"/>
          <p:cNvSpPr/>
          <p:nvPr/>
        </p:nvSpPr>
        <p:spPr>
          <a:xfrm>
            <a:off x="9843611" y="10675934"/>
            <a:ext cx="790416" cy="176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163" name="Text 139"/>
          <p:cNvSpPr/>
          <p:nvPr/>
        </p:nvSpPr>
        <p:spPr>
          <a:xfrm>
            <a:off x="13174187" y="10718481"/>
            <a:ext cx="361950" cy="144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10:34</a:t>
            </a:r>
            <a:endParaRPr lang="en-US" sz="750" dirty="0"/>
          </a:p>
        </p:txBody>
      </p:sp>
      <p:pic>
        <p:nvPicPr>
          <p:cNvPr id="16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87911" y="10867867"/>
            <a:ext cx="104775" cy="104775"/>
          </a:xfrm>
          <a:prstGeom prst="rect">
            <a:avLst/>
          </a:prstGeom>
        </p:spPr>
      </p:pic>
      <p:sp>
        <p:nvSpPr>
          <p:cNvPr id="165" name="Text 140"/>
          <p:cNvSpPr/>
          <p:nvPr/>
        </p:nvSpPr>
        <p:spPr>
          <a:xfrm>
            <a:off x="8840311" y="10861830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Vos · dispatcher</a:t>
            </a:r>
            <a:endParaRPr lang="en-US" sz="825" dirty="0"/>
          </a:p>
        </p:txBody>
      </p:sp>
      <p:sp>
        <p:nvSpPr>
          <p:cNvPr id="166" name="Shape 141"/>
          <p:cNvSpPr/>
          <p:nvPr/>
        </p:nvSpPr>
        <p:spPr>
          <a:xfrm>
            <a:off x="8392636" y="11169337"/>
            <a:ext cx="171450" cy="171450"/>
          </a:xfrm>
          <a:prstGeom prst="ellipse">
            <a:avLst/>
          </a:prstGeom>
          <a:solidFill>
            <a:srgbClr val="FFFFFF"/>
          </a:solidFill>
          <a:ln w="10636">
            <a:solidFill>
              <a:srgbClr val="646B7A"/>
            </a:solidFill>
            <a:prstDash val="solid"/>
          </a:ln>
        </p:spPr>
      </p:sp>
      <p:pic>
        <p:nvPicPr>
          <p:cNvPr id="16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5499" y="11212199"/>
            <a:ext cx="85725" cy="85725"/>
          </a:xfrm>
          <a:prstGeom prst="rect">
            <a:avLst/>
          </a:prstGeom>
        </p:spPr>
      </p:pic>
      <p:sp>
        <p:nvSpPr>
          <p:cNvPr id="168" name="Text 142"/>
          <p:cNvSpPr/>
          <p:nvPr/>
        </p:nvSpPr>
        <p:spPr>
          <a:xfrm>
            <a:off x="8687911" y="11150287"/>
            <a:ext cx="1066324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to road user</a:t>
            </a:r>
            <a:endParaRPr lang="en-US" sz="975" dirty="0"/>
          </a:p>
        </p:txBody>
      </p:sp>
      <p:sp>
        <p:nvSpPr>
          <p:cNvPr id="169" name="Text 143"/>
          <p:cNvSpPr/>
          <p:nvPr/>
        </p:nvSpPr>
        <p:spPr>
          <a:xfrm>
            <a:off x="13174187" y="11203465"/>
            <a:ext cx="361950" cy="1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10:34</a:t>
            </a:r>
            <a:endParaRPr lang="en-US" sz="750" dirty="0"/>
          </a:p>
        </p:txBody>
      </p:sp>
      <p:pic>
        <p:nvPicPr>
          <p:cNvPr id="17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87911" y="11344433"/>
            <a:ext cx="104775" cy="104775"/>
          </a:xfrm>
          <a:prstGeom prst="rect">
            <a:avLst/>
          </a:prstGeom>
        </p:spPr>
      </p:pic>
      <p:sp>
        <p:nvSpPr>
          <p:cNvPr id="171" name="Text 144"/>
          <p:cNvSpPr/>
          <p:nvPr/>
        </p:nvSpPr>
        <p:spPr>
          <a:xfrm>
            <a:off x="8840311" y="11338406"/>
            <a:ext cx="1270635" cy="155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Vos · dispatcher</a:t>
            </a:r>
            <a:endParaRPr lang="en-US" sz="825" dirty="0"/>
          </a:p>
        </p:txBody>
      </p:sp>
      <p:sp>
        <p:nvSpPr>
          <p:cNvPr id="172" name="Shape 145"/>
          <p:cNvSpPr/>
          <p:nvPr/>
        </p:nvSpPr>
        <p:spPr>
          <a:xfrm>
            <a:off x="8687911" y="11541128"/>
            <a:ext cx="4772025" cy="371316"/>
          </a:xfrm>
          <a:prstGeom prst="roundRect">
            <a:avLst>
              <a:gd name="adj" fmla="val 25652"/>
            </a:avLst>
          </a:prstGeom>
          <a:solidFill>
            <a:srgbClr val="F7F8FA"/>
          </a:solidFill>
          <a:ln w="10636">
            <a:solidFill>
              <a:srgbClr val="EEF1F4"/>
            </a:solidFill>
            <a:prstDash val="solid"/>
          </a:ln>
        </p:spPr>
      </p:sp>
      <p:sp>
        <p:nvSpPr>
          <p:cNvPr id="173" name="Text 146"/>
          <p:cNvSpPr/>
          <p:nvPr/>
        </p:nvSpPr>
        <p:spPr>
          <a:xfrm>
            <a:off x="8812848" y="11637489"/>
            <a:ext cx="466531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patrol unit has been notified and is being assigned.</a:t>
            </a:r>
            <a:endParaRPr lang="en-US" sz="938" dirty="0"/>
          </a:p>
        </p:txBody>
      </p:sp>
      <p:sp>
        <p:nvSpPr>
          <p:cNvPr id="174" name="Shape 147"/>
          <p:cNvSpPr/>
          <p:nvPr/>
        </p:nvSpPr>
        <p:spPr>
          <a:xfrm>
            <a:off x="11286014" y="5026344"/>
            <a:ext cx="2857500" cy="4038441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  <a:effectLst>
            <a:outerShdw sx="100000" sy="100000" kx="0" ky="0" algn="bl" rotWithShape="0" blurRad="457200" dist="171450" dir="5400000">
              <a:srgbClr val="14171C">
                <a:alpha val="18000"/>
              </a:srgbClr>
            </a:outerShdw>
          </a:effectLst>
        </p:spPr>
      </p:sp>
      <p:sp>
        <p:nvSpPr>
          <p:cNvPr id="175" name="Shape 148"/>
          <p:cNvSpPr/>
          <p:nvPr/>
        </p:nvSpPr>
        <p:spPr>
          <a:xfrm rot="2700000">
            <a:off x="13713778" y="4970301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6" name="Shape 149"/>
          <p:cNvSpPr/>
          <p:nvPr/>
        </p:nvSpPr>
        <p:spPr>
          <a:xfrm rot="2700000">
            <a:off x="13750428" y="4985482"/>
            <a:ext cx="114300" cy="106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77" name="Shape 150"/>
          <p:cNvSpPr/>
          <p:nvPr/>
        </p:nvSpPr>
        <p:spPr>
          <a:xfrm rot="2700000">
            <a:off x="13728959" y="4933650"/>
            <a:ext cx="10636" cy="11430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78" name="Text 151"/>
          <p:cNvSpPr/>
          <p:nvPr/>
        </p:nvSpPr>
        <p:spPr>
          <a:xfrm>
            <a:off x="11468100" y="5208426"/>
            <a:ext cx="1058863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status</a:t>
            </a:r>
            <a:endParaRPr lang="en-US" sz="1125" dirty="0"/>
          </a:p>
        </p:txBody>
      </p:sp>
      <p:pic>
        <p:nvPicPr>
          <p:cNvPr id="17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789977" y="5213031"/>
            <a:ext cx="171450" cy="171450"/>
          </a:xfrm>
          <a:prstGeom prst="rect">
            <a:avLst/>
          </a:prstGeom>
        </p:spPr>
      </p:pic>
      <p:sp>
        <p:nvSpPr>
          <p:cNvPr id="180" name="Shape 152"/>
          <p:cNvSpPr/>
          <p:nvPr/>
        </p:nvSpPr>
        <p:spPr>
          <a:xfrm>
            <a:off x="11468100" y="5513068"/>
            <a:ext cx="2493327" cy="390366"/>
          </a:xfrm>
          <a:prstGeom prst="roundRect">
            <a:avLst>
              <a:gd name="adj" fmla="val 26840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181" name="Shape 153"/>
          <p:cNvSpPr/>
          <p:nvPr/>
        </p:nvSpPr>
        <p:spPr>
          <a:xfrm>
            <a:off x="11602562" y="5665310"/>
            <a:ext cx="85725" cy="857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2" name="Text 154"/>
          <p:cNvSpPr/>
          <p:nvPr/>
        </p:nvSpPr>
        <p:spPr>
          <a:xfrm>
            <a:off x="11783537" y="5628484"/>
            <a:ext cx="211963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013" dirty="0"/>
          </a:p>
        </p:txBody>
      </p:sp>
      <p:sp>
        <p:nvSpPr>
          <p:cNvPr id="183" name="Shape 155"/>
          <p:cNvSpPr/>
          <p:nvPr/>
        </p:nvSpPr>
        <p:spPr>
          <a:xfrm>
            <a:off x="11468100" y="5979635"/>
            <a:ext cx="2493327" cy="390366"/>
          </a:xfrm>
          <a:prstGeom prst="roundRect">
            <a:avLst>
              <a:gd name="adj" fmla="val 26840"/>
            </a:avLst>
          </a:prstGeom>
          <a:solidFill>
            <a:srgbClr val="FBF0D9"/>
          </a:solidFill>
          <a:ln w="10636">
            <a:solidFill>
              <a:srgbClr val="B7791F"/>
            </a:solidFill>
            <a:prstDash val="solid"/>
          </a:ln>
        </p:spPr>
      </p:sp>
      <p:sp>
        <p:nvSpPr>
          <p:cNvPr id="184" name="Shape 156"/>
          <p:cNvSpPr/>
          <p:nvPr/>
        </p:nvSpPr>
        <p:spPr>
          <a:xfrm>
            <a:off x="11602562" y="6131877"/>
            <a:ext cx="85725" cy="85725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85" name="Text 157"/>
          <p:cNvSpPr/>
          <p:nvPr/>
        </p:nvSpPr>
        <p:spPr>
          <a:xfrm>
            <a:off x="11783537" y="6095051"/>
            <a:ext cx="187198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13" dirty="0"/>
          </a:p>
        </p:txBody>
      </p:sp>
      <p:pic>
        <p:nvPicPr>
          <p:cNvPr id="18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674566" y="6098539"/>
            <a:ext cx="152400" cy="152400"/>
          </a:xfrm>
          <a:prstGeom prst="rect">
            <a:avLst/>
          </a:prstGeom>
        </p:spPr>
      </p:pic>
      <p:sp>
        <p:nvSpPr>
          <p:cNvPr id="187" name="Shape 158"/>
          <p:cNvSpPr/>
          <p:nvPr/>
        </p:nvSpPr>
        <p:spPr>
          <a:xfrm>
            <a:off x="11468100" y="6446202"/>
            <a:ext cx="2493327" cy="390366"/>
          </a:xfrm>
          <a:prstGeom prst="roundRect">
            <a:avLst>
              <a:gd name="adj" fmla="val 26840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188" name="Shape 159"/>
          <p:cNvSpPr/>
          <p:nvPr/>
        </p:nvSpPr>
        <p:spPr>
          <a:xfrm>
            <a:off x="11602562" y="6598444"/>
            <a:ext cx="85725" cy="8572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9" name="Text 160"/>
          <p:cNvSpPr/>
          <p:nvPr/>
        </p:nvSpPr>
        <p:spPr>
          <a:xfrm>
            <a:off x="11783537" y="6561618"/>
            <a:ext cx="211963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</a:t>
            </a:r>
            <a:endParaRPr lang="en-US" sz="1013" dirty="0"/>
          </a:p>
        </p:txBody>
      </p:sp>
      <p:sp>
        <p:nvSpPr>
          <p:cNvPr id="190" name="Shape 161"/>
          <p:cNvSpPr/>
          <p:nvPr/>
        </p:nvSpPr>
        <p:spPr>
          <a:xfrm>
            <a:off x="11468100" y="6912769"/>
            <a:ext cx="2493327" cy="390366"/>
          </a:xfrm>
          <a:prstGeom prst="roundRect">
            <a:avLst>
              <a:gd name="adj" fmla="val 26840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191" name="Shape 162"/>
          <p:cNvSpPr/>
          <p:nvPr/>
        </p:nvSpPr>
        <p:spPr>
          <a:xfrm>
            <a:off x="11602562" y="7065011"/>
            <a:ext cx="85725" cy="85725"/>
          </a:xfrm>
          <a:prstGeom prst="ellipse">
            <a:avLst/>
          </a:prstGeom>
          <a:solidFill>
            <a:srgbClr val="0F8A5F"/>
          </a:solidFill>
          <a:ln/>
        </p:spPr>
      </p:sp>
      <p:sp>
        <p:nvSpPr>
          <p:cNvPr id="192" name="Text 163"/>
          <p:cNvSpPr/>
          <p:nvPr/>
        </p:nvSpPr>
        <p:spPr>
          <a:xfrm>
            <a:off x="11783537" y="7028176"/>
            <a:ext cx="2119630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A3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13" dirty="0"/>
          </a:p>
        </p:txBody>
      </p:sp>
      <p:sp>
        <p:nvSpPr>
          <p:cNvPr id="193" name="Text 164"/>
          <p:cNvSpPr/>
          <p:nvPr/>
        </p:nvSpPr>
        <p:spPr>
          <a:xfrm>
            <a:off x="11468100" y="7446011"/>
            <a:ext cx="1983105" cy="155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TO ROAD USER · OPTIONAL</a:t>
            </a:r>
            <a:endParaRPr lang="en-US" sz="825" dirty="0"/>
          </a:p>
        </p:txBody>
      </p:sp>
      <p:sp>
        <p:nvSpPr>
          <p:cNvPr id="194" name="Shape 165"/>
          <p:cNvSpPr/>
          <p:nvPr/>
        </p:nvSpPr>
        <p:spPr>
          <a:xfrm>
            <a:off x="11468100" y="7629683"/>
            <a:ext cx="2493327" cy="666750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0636">
            <a:solidFill>
              <a:srgbClr val="E4E7EC"/>
            </a:solidFill>
            <a:prstDash val="solid"/>
          </a:ln>
        </p:spPr>
      </p:sp>
      <p:sp>
        <p:nvSpPr>
          <p:cNvPr id="195" name="Text 166"/>
          <p:cNvSpPr/>
          <p:nvPr/>
        </p:nvSpPr>
        <p:spPr>
          <a:xfrm>
            <a:off x="11602562" y="7754619"/>
            <a:ext cx="2300605" cy="45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15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patrol unit has been notified and is being assigned.</a:t>
            </a:r>
            <a:endParaRPr lang="en-US" sz="1013" dirty="0"/>
          </a:p>
        </p:txBody>
      </p:sp>
      <p:sp>
        <p:nvSpPr>
          <p:cNvPr id="196" name="Shape 167"/>
          <p:cNvSpPr/>
          <p:nvPr/>
        </p:nvSpPr>
        <p:spPr>
          <a:xfrm>
            <a:off x="11468100" y="8454228"/>
            <a:ext cx="2493327" cy="428466"/>
          </a:xfrm>
          <a:prstGeom prst="roundRect">
            <a:avLst>
              <a:gd name="adj" fmla="val 26677"/>
            </a:avLst>
          </a:prstGeom>
          <a:solidFill>
            <a:srgbClr val="E0590B"/>
          </a:solidFill>
          <a:ln/>
          <a:effectLst>
            <a:outerShdw sx="100000" sy="100000" kx="0" ky="0" algn="bl" rotWithShape="0" blurRad="152400" dist="57150" dir="5400000">
              <a:srgbClr val="E0590B">
                <a:alpha val="28000"/>
              </a:srgbClr>
            </a:outerShdw>
          </a:effectLst>
        </p:spPr>
      </p:sp>
      <p:sp>
        <p:nvSpPr>
          <p:cNvPr id="197" name="Text 168"/>
          <p:cNvSpPr/>
          <p:nvPr/>
        </p:nvSpPr>
        <p:spPr>
          <a:xfrm>
            <a:off x="11601450" y="8578053"/>
            <a:ext cx="2226627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update</a:t>
            </a:r>
            <a:endParaRPr lang="en-US" sz="1088" dirty="0"/>
          </a:p>
        </p:txBody>
      </p:sp>
      <p:sp>
        <p:nvSpPr>
          <p:cNvPr id="198" name="Shape 169"/>
          <p:cNvSpPr/>
          <p:nvPr/>
        </p:nvSpPr>
        <p:spPr>
          <a:xfrm>
            <a:off x="914400" y="9544050"/>
            <a:ext cx="323850" cy="323850"/>
          </a:xfrm>
          <a:prstGeom prst="roundRect">
            <a:avLst>
              <a:gd name="adj" fmla="val 26000"/>
            </a:avLst>
          </a:prstGeom>
          <a:solidFill>
            <a:srgbClr val="15171C"/>
          </a:solidFill>
          <a:ln/>
        </p:spPr>
      </p:sp>
      <p:sp>
        <p:nvSpPr>
          <p:cNvPr id="199" name="Shape 170"/>
          <p:cNvSpPr/>
          <p:nvPr/>
        </p:nvSpPr>
        <p:spPr>
          <a:xfrm>
            <a:off x="1005046" y="9634696"/>
            <a:ext cx="142558" cy="142558"/>
          </a:xfrm>
          <a:prstGeom prst="ellipse">
            <a:avLst/>
          </a:prstGeom>
          <a:ln w="21272">
            <a:solidFill>
              <a:srgbClr val="E0590B"/>
            </a:solidFill>
            <a:prstDash val="solid"/>
          </a:ln>
        </p:spPr>
      </p:sp>
      <p:sp>
        <p:nvSpPr>
          <p:cNvPr id="200" name="Shape 171"/>
          <p:cNvSpPr/>
          <p:nvPr/>
        </p:nvSpPr>
        <p:spPr>
          <a:xfrm>
            <a:off x="1052036" y="9681688"/>
            <a:ext cx="48578" cy="48578"/>
          </a:xfrm>
          <a:prstGeom prst="ellipse">
            <a:avLst/>
          </a:prstGeom>
          <a:solidFill>
            <a:srgbClr val="E0590B"/>
          </a:solidFill>
          <a:ln/>
        </p:spPr>
      </p:sp>
      <p:sp>
        <p:nvSpPr>
          <p:cNvPr id="201" name="Text 172"/>
          <p:cNvSpPr/>
          <p:nvPr/>
        </p:nvSpPr>
        <p:spPr>
          <a:xfrm>
            <a:off x="1371600" y="9610251"/>
            <a:ext cx="1177925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8B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ROADASSIST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2026-06-07T11:19:19Z</dcterms:created>
  <dcterms:modified xsi:type="dcterms:W3CDTF">2026-06-07T11:19:19Z</dcterms:modified>
</cp:coreProperties>
</file>